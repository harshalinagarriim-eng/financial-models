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ink/ink8.xml" ContentType="application/inkml+xml"/>
  <Override PartName="/ppt/ink/ink18.xml" ContentType="application/inkml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Override PartName="/ppt/ink/ink6.xml" ContentType="application/inkml+xml"/>
  <Override PartName="/ppt/ink/ink7.xml" ContentType="application/inkml+xml"/>
  <Override PartName="/ppt/ink/ink16.xml" ContentType="application/inkml+xml"/>
  <Override PartName="/ppt/ink/ink17.xml" ContentType="application/inkml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docProps/app.xml" ContentType="application/vnd.openxmlformats-officedocument.extended-properties+xml"/>
  <Override PartName="/ppt/ink/ink3.xml" ContentType="application/inkml+xml"/>
  <Override PartName="/ppt/ink/ink4.xml" ContentType="application/inkml+xml"/>
  <Override PartName="/ppt/ink/ink5.xml" ContentType="application/inkml+xml"/>
  <Override PartName="/ppt/ink/ink14.xml" ContentType="application/inkml+xml"/>
  <Override PartName="/ppt/ink/ink15.xml" ContentType="application/inkml+xml"/>
  <Override PartName="/ppt/ink/ink23.xml" ContentType="application/inkml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12.xml" ContentType="application/inkml+xml"/>
  <Override PartName="/ppt/ink/ink13.xml" ContentType="application/inkml+xml"/>
  <Override PartName="/ppt/ink/ink21.xml" ContentType="application/inkml+xml"/>
  <Override PartName="/ppt/ink/ink22.xml" ContentType="application/inkml+xml"/>
  <Override PartName="/ppt/slideLayouts/slideLayout10.xml" ContentType="application/vnd.openxmlformats-officedocument.presentationml.slideLayout+xml"/>
  <Default Extension="gif" ContentType="image/gif"/>
  <Override PartName="/ppt/ink/ink10.xml" ContentType="application/inkml+xml"/>
  <Override PartName="/ppt/ink/ink11.xml" ContentType="application/inkml+xml"/>
  <Override PartName="/ppt/ink/ink20.xml" ContentType="application/inkml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ink/ink9.xml" ContentType="application/inkml+xml"/>
  <Override PartName="/ppt/ink/ink19.xml" ContentType="application/inkml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48" r:id="rId1"/>
  </p:sldMasterIdLst>
  <p:notesMasterIdLst>
    <p:notesMasterId r:id="rId9"/>
  </p:notesMasterIdLst>
  <p:sldIdLst>
    <p:sldId id="287" r:id="rId2"/>
    <p:sldId id="548" r:id="rId3"/>
    <p:sldId id="564" r:id="rId4"/>
    <p:sldId id="563" r:id="rId5"/>
    <p:sldId id="566" r:id="rId6"/>
    <p:sldId id="560" r:id="rId7"/>
    <p:sldId id="570" r:id="rId8"/>
  </p:sldIdLst>
  <p:sldSz cx="9906000" cy="6858000" type="A4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528">
          <p15:clr>
            <a:srgbClr val="A4A3A4"/>
          </p15:clr>
        </p15:guide>
        <p15:guide id="2" orient="horz" pos="2160">
          <p15:clr>
            <a:srgbClr val="A4A3A4"/>
          </p15:clr>
        </p15:guide>
        <p15:guide id="3" pos="5952">
          <p15:clr>
            <a:srgbClr val="A4A3A4"/>
          </p15:clr>
        </p15:guide>
        <p15:guide id="4" pos="336">
          <p15:clr>
            <a:srgbClr val="A4A3A4"/>
          </p15:clr>
        </p15:guide>
        <p15:guide id="5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376092"/>
    <a:srgbClr val="4F81BD"/>
    <a:srgbClr val="595959"/>
    <a:srgbClr val="1F497D"/>
    <a:srgbClr val="E9EDF4"/>
    <a:srgbClr val="BFBFBF"/>
    <a:srgbClr val="7F7F7F"/>
    <a:srgbClr val="A6A6A6"/>
    <a:srgbClr val="C25830"/>
    <a:srgbClr val="E46C0A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68A117-C4FA-4584-ABAC-9748ADDD7497}" v="41" dt="2024-04-29T11:50:46.75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4667" autoAdjust="0"/>
    <p:restoredTop sz="99332" autoAdjust="0"/>
  </p:normalViewPr>
  <p:slideViewPr>
    <p:cSldViewPr showGuides="1">
      <p:cViewPr varScale="1">
        <p:scale>
          <a:sx n="116" d="100"/>
          <a:sy n="116" d="100"/>
        </p:scale>
        <p:origin x="-1806" y="-114"/>
      </p:cViewPr>
      <p:guideLst>
        <p:guide orient="horz" pos="528"/>
        <p:guide orient="horz" pos="2160"/>
        <p:guide pos="5952"/>
        <p:guide pos="336"/>
        <p:guide pos="312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718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1T07:09:49.65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19 14,'0'0,"0"0,0 0,0 0,-8-6,-3-2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1T07:09:50.00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1T07:11:23.02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1T07:11:49.67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12T07:39:43.7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79 4607 0 0,'-1'-5'408'0'0,"-1"0"-328"0"0,1-7-880 0 0,0-1-184 0 0,0-1-32 0 0,0 0-8 0 0,-3-2 824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12T07:39:53.4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 4607 0 0,'0'0'488'0'0,"6"-5"-4312"0"0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12T07:39:53.7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46 4607 0 0,'0'0'488'0'0,"7"-5"-488"0"0,0 1 0 0 0,-1 0 0 0 0,-1-2 0 0 0,1 2 0 0 0,2 1 0 0 0,2-3-1784 0 0,-1 1 768 0 0,-1 0-8 0 0,-1 1 824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12T07:39:59.8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0 4607 0 0,'0'0'1411'0'0,"70"72"-310"0"0,-28-28-1286 0 0,-28-34-866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1T07:09:49.65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19 14,'0'0,"0"0,0 0,0 0,-8-6,-3-2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1T07:09:50.00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1T07:11:23.02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1T07:11:49.67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12T07:39:43.7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79 4607 0 0,'-1'-5'408'0'0,"-1"0"-328"0"0,1-7-880 0 0,0-1-184 0 0,0-1-32 0 0,0 0-8 0 0,-3-2 824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12T07:39:53.4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 4607 0 0,'0'0'488'0'0,"6"-5"-4312"0"0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12T07:39:53.7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46 4607 0 0,'0'0'488'0'0,"7"-5"-488"0"0,0 1 0 0 0,-1 0 0 0 0,-1-2 0 0 0,1 2 0 0 0,2 1 0 0 0,2-3-1784 0 0,-1 1 768 0 0,-1 0-8 0 0,-1 1 824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12T07:39:59.8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0 4607 0 0,'0'0'1411'0'0,"70"72"-310"0"0,-28-28-1286 0 0,-28-34-866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1T07:09:49.65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19 14,'0'0,"0"0,0 0,0 0,-8-6,-3-2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1T07:09:50.00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1T07:11:23.02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0,'0'0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3-21T07:11:49.67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0,'0'0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12T07:39:43.7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79 4607 0 0,'-1'-5'408'0'0,"-1"0"-328"0"0,1-7-880 0 0,0-1-184 0 0,0-1-32 0 0,0 0-8 0 0,-3-2 824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12T07:39:53.4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 4607 0 0,'0'0'488'0'0,"6"-5"-4312"0"0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06-12T07:39:59.8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 0 4607 0 0,'0'0'1411'0'0,"70"72"-310"0"0,-28-28-1286 0 0,-28-34-866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5E24B7-BB65-4CD5-AF2E-65720B007E4F}" type="datetimeFigureOut">
              <a:rPr lang="en-US" smtClean="0"/>
              <a:pPr/>
              <a:t>19-Jan-26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74F797-D0C9-4CC8-A782-47AF8FE251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023964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gray">
          <a:xfrm>
            <a:off x="609600" y="3505200"/>
            <a:ext cx="5386944" cy="1524000"/>
          </a:xfrm>
        </p:spPr>
        <p:txBody>
          <a:bodyPr anchor="t">
            <a:normAutofit/>
          </a:bodyPr>
          <a:lstStyle>
            <a:lvl1pPr algn="l">
              <a:defRPr sz="2400" b="1">
                <a:solidFill>
                  <a:srgbClr val="1F497D"/>
                </a:solidFill>
              </a:defRPr>
            </a:lvl1pPr>
          </a:lstStyle>
          <a:p>
            <a:r>
              <a:rPr lang="en-US" dirty="0" err="1"/>
              <a:t>aaa</a:t>
            </a:r>
            <a:endParaRPr lang="en-US" dirty="0"/>
          </a:p>
        </p:txBody>
      </p:sp>
      <p:sp>
        <p:nvSpPr>
          <p:cNvPr id="3" name="Rectangle 2"/>
          <p:cNvSpPr/>
          <p:nvPr userDrawn="1"/>
        </p:nvSpPr>
        <p:spPr>
          <a:xfrm>
            <a:off x="609600" y="2895600"/>
            <a:ext cx="5432476" cy="533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493776" y="64008"/>
            <a:ext cx="7516368" cy="704088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ts val="2200"/>
              </a:lnSpc>
              <a:spcBef>
                <a:spcPct val="0"/>
              </a:spcBef>
              <a:buNone/>
              <a:defRPr lang="en-US" sz="2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 bwMode="gray">
          <a:xfrm>
            <a:off x="9410700" y="6492875"/>
            <a:ext cx="495300" cy="365125"/>
          </a:xfrm>
        </p:spPr>
        <p:txBody>
          <a:bodyPr/>
          <a:lstStyle/>
          <a:p>
            <a:fld id="{5A0614AE-7DA6-4443-9A06-FA7BD7CD666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-12700" y="838200"/>
            <a:ext cx="992124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2"/>
          <p:cNvSpPr>
            <a:spLocks noGrp="1"/>
          </p:cNvSpPr>
          <p:nvPr>
            <p:ph idx="1"/>
          </p:nvPr>
        </p:nvSpPr>
        <p:spPr bwMode="gray">
          <a:xfrm>
            <a:off x="495300" y="962025"/>
            <a:ext cx="8915400" cy="5172075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cxnSp>
        <p:nvCxnSpPr>
          <p:cNvPr id="16" name="Straight Connector 15"/>
          <p:cNvCxnSpPr/>
          <p:nvPr userDrawn="1"/>
        </p:nvCxnSpPr>
        <p:spPr>
          <a:xfrm>
            <a:off x="-12700" y="6172200"/>
            <a:ext cx="992124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(Tab Slid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 bwMode="gray">
          <a:xfrm>
            <a:off x="493776" y="64008"/>
            <a:ext cx="7516368" cy="704088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ts val="2200"/>
              </a:lnSpc>
              <a:spcBef>
                <a:spcPct val="0"/>
              </a:spcBef>
              <a:buNone/>
              <a:defRPr lang="en-US" sz="2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6" name="Straight Connector 15"/>
          <p:cNvCxnSpPr/>
          <p:nvPr userDrawn="1"/>
        </p:nvCxnSpPr>
        <p:spPr>
          <a:xfrm>
            <a:off x="-12700" y="838200"/>
            <a:ext cx="992124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2"/>
          <p:cNvSpPr>
            <a:spLocks noGrp="1"/>
          </p:cNvSpPr>
          <p:nvPr>
            <p:ph idx="1"/>
          </p:nvPr>
        </p:nvSpPr>
        <p:spPr bwMode="gray">
          <a:xfrm>
            <a:off x="495300" y="962025"/>
            <a:ext cx="8915400" cy="5172075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-12700" y="6172200"/>
            <a:ext cx="992124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 bwMode="gray">
          <a:xfrm>
            <a:off x="9410700" y="6492875"/>
            <a:ext cx="495300" cy="365125"/>
          </a:xfrm>
        </p:spPr>
        <p:txBody>
          <a:bodyPr/>
          <a:lstStyle/>
          <a:p>
            <a:fld id="{5A0614AE-7DA6-4443-9A06-FA7BD7CD666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 bwMode="gray">
          <a:xfrm>
            <a:off x="493776" y="64008"/>
            <a:ext cx="7516368" cy="704088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ts val="2200"/>
              </a:lnSpc>
              <a:spcBef>
                <a:spcPct val="0"/>
              </a:spcBef>
              <a:buNone/>
              <a:defRPr lang="en-US" sz="2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6" name="Straight Connector 15"/>
          <p:cNvCxnSpPr/>
          <p:nvPr userDrawn="1"/>
        </p:nvCxnSpPr>
        <p:spPr>
          <a:xfrm>
            <a:off x="-12700" y="838200"/>
            <a:ext cx="992124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Placeholder 2"/>
          <p:cNvSpPr>
            <a:spLocks noGrp="1"/>
          </p:cNvSpPr>
          <p:nvPr>
            <p:ph idx="1"/>
          </p:nvPr>
        </p:nvSpPr>
        <p:spPr bwMode="gray">
          <a:xfrm>
            <a:off x="495300" y="962025"/>
            <a:ext cx="3995928" cy="5172075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idx="13"/>
          </p:nvPr>
        </p:nvSpPr>
        <p:spPr bwMode="gray">
          <a:xfrm>
            <a:off x="4737100" y="962025"/>
            <a:ext cx="3995928" cy="5172075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cxnSp>
        <p:nvCxnSpPr>
          <p:cNvPr id="19" name="Straight Connector 18"/>
          <p:cNvCxnSpPr/>
          <p:nvPr userDrawn="1"/>
        </p:nvCxnSpPr>
        <p:spPr>
          <a:xfrm>
            <a:off x="-12700" y="6172200"/>
            <a:ext cx="992124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 bwMode="gray">
          <a:xfrm>
            <a:off x="9410700" y="6492875"/>
            <a:ext cx="495300" cy="365125"/>
          </a:xfrm>
        </p:spPr>
        <p:txBody>
          <a:bodyPr/>
          <a:lstStyle/>
          <a:p>
            <a:fld id="{5A0614AE-7DA6-4443-9A06-FA7BD7CD666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 bwMode="gray">
          <a:xfrm>
            <a:off x="493776" y="64008"/>
            <a:ext cx="7516368" cy="704088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ts val="2200"/>
              </a:lnSpc>
              <a:spcBef>
                <a:spcPct val="0"/>
              </a:spcBef>
              <a:buNone/>
              <a:defRPr lang="en-US" sz="2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7" name="Straight Connector 16"/>
          <p:cNvCxnSpPr/>
          <p:nvPr userDrawn="1"/>
        </p:nvCxnSpPr>
        <p:spPr>
          <a:xfrm>
            <a:off x="-12700" y="838200"/>
            <a:ext cx="992124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2"/>
          <p:cNvSpPr>
            <a:spLocks noGrp="1"/>
          </p:cNvSpPr>
          <p:nvPr>
            <p:ph idx="1"/>
          </p:nvPr>
        </p:nvSpPr>
        <p:spPr bwMode="gray">
          <a:xfrm>
            <a:off x="495300" y="962025"/>
            <a:ext cx="5760720" cy="5172075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idx="13"/>
          </p:nvPr>
        </p:nvSpPr>
        <p:spPr bwMode="gray">
          <a:xfrm>
            <a:off x="6477000" y="962025"/>
            <a:ext cx="3017520" cy="5172075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-12700" y="6172200"/>
            <a:ext cx="992124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o not remove" hidden="1">
            <a:extLst>
              <a:ext uri="{FF2B5EF4-FFF2-40B4-BE49-F238E27FC236}">
                <a16:creationId xmlns:a16="http://schemas.microsoft.com/office/drawing/2014/main" xmlns="" id="{DF5C8EE4-7C06-C718-A5C1-351903F00E9D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254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25400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493776" y="64008"/>
            <a:ext cx="7516368" cy="704088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ts val="2200"/>
              </a:lnSpc>
              <a:spcBef>
                <a:spcPct val="0"/>
              </a:spcBef>
              <a:buNone/>
              <a:defRPr lang="en-US" sz="2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gray">
          <a:xfrm>
            <a:off x="9410700" y="6492875"/>
            <a:ext cx="495300" cy="365125"/>
          </a:xfrm>
        </p:spPr>
        <p:txBody>
          <a:bodyPr/>
          <a:lstStyle/>
          <a:p>
            <a:fld id="{5A0614AE-7DA6-4443-9A06-FA7BD7CD666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-12700" y="838200"/>
            <a:ext cx="992124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2"/>
          <p:cNvSpPr>
            <a:spLocks noGrp="1"/>
          </p:cNvSpPr>
          <p:nvPr>
            <p:ph idx="1"/>
          </p:nvPr>
        </p:nvSpPr>
        <p:spPr bwMode="gray">
          <a:xfrm>
            <a:off x="495300" y="962025"/>
            <a:ext cx="8915400" cy="5172075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-12700" y="6172200"/>
            <a:ext cx="992124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 bwMode="gray">
          <a:xfrm>
            <a:off x="9410700" y="6492875"/>
            <a:ext cx="495300" cy="365125"/>
          </a:xfrm>
        </p:spPr>
        <p:txBody>
          <a:bodyPr/>
          <a:lstStyle/>
          <a:p>
            <a:fld id="{5A0614AE-7DA6-4443-9A06-FA7BD7CD666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1"/>
          <p:cNvSpPr>
            <a:spLocks noGrp="1"/>
          </p:cNvSpPr>
          <p:nvPr userDrawn="1">
            <p:ph type="title"/>
          </p:nvPr>
        </p:nvSpPr>
        <p:spPr bwMode="gray">
          <a:xfrm>
            <a:off x="493776" y="64008"/>
            <a:ext cx="7516368" cy="704088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ts val="2200"/>
              </a:lnSpc>
              <a:spcBef>
                <a:spcPct val="0"/>
              </a:spcBef>
              <a:buNone/>
              <a:defRPr lang="en-US" sz="2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-12700" y="838200"/>
            <a:ext cx="992124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2"/>
          <p:cNvSpPr>
            <a:spLocks noGrp="1"/>
          </p:cNvSpPr>
          <p:nvPr>
            <p:ph idx="1"/>
          </p:nvPr>
        </p:nvSpPr>
        <p:spPr bwMode="gray">
          <a:xfrm>
            <a:off x="495300" y="962025"/>
            <a:ext cx="8915400" cy="5172075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cxnSp>
        <p:nvCxnSpPr>
          <p:cNvPr id="17" name="Straight Connector 16"/>
          <p:cNvCxnSpPr/>
          <p:nvPr userDrawn="1"/>
        </p:nvCxnSpPr>
        <p:spPr>
          <a:xfrm>
            <a:off x="-12700" y="6172200"/>
            <a:ext cx="992124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concep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493776" y="64008"/>
            <a:ext cx="7516368" cy="704088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ts val="2200"/>
              </a:lnSpc>
              <a:spcBef>
                <a:spcPct val="0"/>
              </a:spcBef>
              <a:buNone/>
              <a:defRPr lang="en-US" sz="2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 bwMode="gray">
          <a:xfrm>
            <a:off x="9410700" y="6492875"/>
            <a:ext cx="495300" cy="365125"/>
          </a:xfrm>
        </p:spPr>
        <p:txBody>
          <a:bodyPr/>
          <a:lstStyle/>
          <a:p>
            <a:fld id="{5A0614AE-7DA6-4443-9A06-FA7BD7CD666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idx="1"/>
          </p:nvPr>
        </p:nvSpPr>
        <p:spPr bwMode="gray">
          <a:xfrm>
            <a:off x="495300" y="962025"/>
            <a:ext cx="8915400" cy="5172075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-12700" y="838200"/>
            <a:ext cx="992124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 userDrawn="1"/>
        </p:nvCxnSpPr>
        <p:spPr>
          <a:xfrm>
            <a:off x="-12700" y="6172200"/>
            <a:ext cx="992124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/>
          <p:cNvSpPr txBox="1">
            <a:spLocks/>
          </p:cNvSpPr>
          <p:nvPr userDrawn="1"/>
        </p:nvSpPr>
        <p:spPr bwMode="gray">
          <a:xfrm>
            <a:off x="4278585" y="2819400"/>
            <a:ext cx="5168900" cy="566738"/>
          </a:xfrm>
          <a:prstGeom prst="rect">
            <a:avLst/>
          </a:prstGeom>
        </p:spPr>
        <p:txBody>
          <a:bodyPr vert="horz" lIns="45720" tIns="45720" rIns="45720" bIns="45720" rtlCol="0" anchor="ctr" anchorCtr="0">
            <a:normAutofit/>
          </a:bodyPr>
          <a:lstStyle>
            <a:lvl1pPr algn="l">
              <a:defRPr sz="2000" b="1"/>
            </a:lvl1pPr>
          </a:lstStyle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Questions ?</a:t>
            </a:r>
          </a:p>
        </p:txBody>
      </p:sp>
      <p:sp>
        <p:nvSpPr>
          <p:cNvPr id="23" name="Title 1"/>
          <p:cNvSpPr txBox="1">
            <a:spLocks/>
          </p:cNvSpPr>
          <p:nvPr userDrawn="1"/>
        </p:nvSpPr>
        <p:spPr bwMode="gray">
          <a:xfrm>
            <a:off x="368301" y="3505200"/>
            <a:ext cx="3684000" cy="1228725"/>
          </a:xfrm>
          <a:prstGeom prst="rect">
            <a:avLst/>
          </a:prstGeom>
        </p:spPr>
        <p:txBody>
          <a:bodyPr vert="horz" lIns="0" tIns="45720" rIns="45720" bIns="45720" rtlCol="0" anchor="t" anchorCtr="0">
            <a:normAutofit/>
          </a:bodyPr>
          <a:lstStyle>
            <a:lvl1pPr algn="l">
              <a:defRPr sz="1600" b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Info@cfieducation.in</a:t>
            </a:r>
          </a:p>
        </p:txBody>
      </p:sp>
      <p:sp>
        <p:nvSpPr>
          <p:cNvPr id="18" name="Rectangle 17"/>
          <p:cNvSpPr/>
          <p:nvPr userDrawn="1"/>
        </p:nvSpPr>
        <p:spPr>
          <a:xfrm>
            <a:off x="368300" y="2895600"/>
            <a:ext cx="3684001" cy="5334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493776" y="64008"/>
            <a:ext cx="7516368" cy="704088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ts val="2200"/>
              </a:lnSpc>
              <a:spcBef>
                <a:spcPct val="0"/>
              </a:spcBef>
              <a:buNone/>
              <a:defRPr lang="en-US" sz="22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gray"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 bwMode="gray">
          <a:xfrm>
            <a:off x="9410700" y="6492875"/>
            <a:ext cx="495300" cy="365125"/>
          </a:xfrm>
        </p:spPr>
        <p:txBody>
          <a:bodyPr/>
          <a:lstStyle/>
          <a:p>
            <a:fld id="{5A0614AE-7DA6-4443-9A06-FA7BD7CD666D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 bwMode="gray"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 bwMode="gray"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 bwMode="gray">
          <a:xfrm>
            <a:off x="9410700" y="6492875"/>
            <a:ext cx="495300" cy="365125"/>
          </a:xfrm>
        </p:spPr>
        <p:txBody>
          <a:bodyPr/>
          <a:lstStyle/>
          <a:p>
            <a:fld id="{5A0614AE-7DA6-4443-9A06-FA7BD7CD666D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2" descr="C:\Users\Dell\Desktop\Corporate Financial Institute (CFI)\Images\CF.jp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xmlns=""/>
              </a:ext>
            </a:extLst>
          </a:blip>
          <a:srcRect/>
          <a:stretch>
            <a:fillRect/>
          </a:stretch>
        </p:blipFill>
        <p:spPr bwMode="auto">
          <a:xfrm>
            <a:off x="8820150" y="64008"/>
            <a:ext cx="590550" cy="590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95300" y="62630"/>
            <a:ext cx="7513638" cy="701458"/>
          </a:xfrm>
          <a:prstGeom prst="rect">
            <a:avLst/>
          </a:prstGeom>
        </p:spPr>
        <p:txBody>
          <a:bodyPr vert="horz" lIns="45720" tIns="45720" rIns="45720" bIns="45720" rtlCol="0" anchor="b" anchorCtr="0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495300" y="962025"/>
            <a:ext cx="8915400" cy="5172075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9436100" y="6492875"/>
            <a:ext cx="469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0614AE-7DA6-4443-9A06-FA7BD7CD666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/>
          <p:cNvSpPr txBox="1">
            <a:spLocks/>
          </p:cNvSpPr>
          <p:nvPr/>
        </p:nvSpPr>
        <p:spPr bwMode="gray">
          <a:xfrm>
            <a:off x="506413" y="6493510"/>
            <a:ext cx="5437187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© Corporate Finance Institute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0" hangingPunct="1">
        <a:lnSpc>
          <a:spcPts val="2200"/>
        </a:lnSpc>
        <a:spcBef>
          <a:spcPct val="0"/>
        </a:spcBef>
        <a:buNone/>
        <a:defRPr sz="22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ts val="800"/>
        </a:spcBef>
        <a:spcAft>
          <a:spcPts val="900"/>
        </a:spcAft>
        <a:buFont typeface="Arial" pitchFamily="34" charset="0"/>
        <a:buNone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225425" indent="-225425" algn="l" defTabSz="914400" rtl="0" eaLnBrk="1" latinLnBrk="0" hangingPunct="1">
        <a:spcBef>
          <a:spcPts val="400"/>
        </a:spcBef>
        <a:spcAft>
          <a:spcPts val="400"/>
        </a:spcAft>
        <a:buClrTx/>
        <a:buFont typeface="Wingdings" pitchFamily="2" charset="2"/>
        <a:buChar char="q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463550" indent="-238125" algn="l" defTabSz="914400" rtl="0" eaLnBrk="1" latinLnBrk="0" hangingPunct="1">
        <a:spcBef>
          <a:spcPts val="300"/>
        </a:spcBef>
        <a:spcAft>
          <a:spcPts val="300"/>
        </a:spcAft>
        <a:buClrTx/>
        <a:buFont typeface="Wingdings" pitchFamily="2" charset="2"/>
        <a:buChar char="v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688975" indent="-225425" algn="l" defTabSz="914400" rtl="0" eaLnBrk="1" latinLnBrk="0" hangingPunct="1">
        <a:spcBef>
          <a:spcPts val="200"/>
        </a:spcBef>
        <a:spcAft>
          <a:spcPts val="200"/>
        </a:spcAft>
        <a:buClrTx/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901700" indent="-212725" algn="l" defTabSz="914400" rtl="0" eaLnBrk="1" latinLnBrk="0" hangingPunct="1">
        <a:spcBef>
          <a:spcPts val="200"/>
        </a:spcBef>
        <a:spcAft>
          <a:spcPts val="200"/>
        </a:spcAft>
        <a:buClr>
          <a:schemeClr val="accent1"/>
        </a:buClr>
        <a:buSzPct val="100000"/>
        <a:buFont typeface="Wingdings" pitchFamily="2" charset="2"/>
        <a:buChar char="§"/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13" Type="http://schemas.openxmlformats.org/officeDocument/2006/relationships/image" Target="../media/image6.png"/><Relationship Id="rId18" Type="http://schemas.openxmlformats.org/officeDocument/2006/relationships/image" Target="../media/image9.png"/><Relationship Id="rId26" Type="http://schemas.openxmlformats.org/officeDocument/2006/relationships/image" Target="../media/image17.png"/><Relationship Id="rId3" Type="http://schemas.openxmlformats.org/officeDocument/2006/relationships/image" Target="../media/image3.png"/><Relationship Id="rId21" Type="http://schemas.openxmlformats.org/officeDocument/2006/relationships/image" Target="../media/image12.png"/><Relationship Id="rId7" Type="http://schemas.openxmlformats.org/officeDocument/2006/relationships/image" Target="../media/image4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6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image" Target="../media/image11.gif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2.xml"/><Relationship Id="rId11" Type="http://schemas.openxmlformats.org/officeDocument/2006/relationships/image" Target="../media/image5.png"/><Relationship Id="rId24" Type="http://schemas.openxmlformats.org/officeDocument/2006/relationships/image" Target="../media/image15.jpeg"/><Relationship Id="rId15" Type="http://schemas.openxmlformats.org/officeDocument/2006/relationships/image" Target="../media/image7.png"/><Relationship Id="rId23" Type="http://schemas.openxmlformats.org/officeDocument/2006/relationships/image" Target="../media/image14.jpeg"/><Relationship Id="rId28" Type="http://schemas.openxmlformats.org/officeDocument/2006/relationships/image" Target="../media/image19.png"/><Relationship Id="rId10" Type="http://schemas.openxmlformats.org/officeDocument/2006/relationships/customXml" Target="../ink/ink5.xml"/><Relationship Id="rId19" Type="http://schemas.openxmlformats.org/officeDocument/2006/relationships/image" Target="../media/image10.png"/><Relationship Id="rId9" Type="http://schemas.openxmlformats.org/officeDocument/2006/relationships/customXml" Target="../ink/ink4.xml"/><Relationship Id="rId14" Type="http://schemas.openxmlformats.org/officeDocument/2006/relationships/customXml" Target="../ink/ink7.xml"/><Relationship Id="rId22" Type="http://schemas.openxmlformats.org/officeDocument/2006/relationships/image" Target="../media/image13.jpeg"/><Relationship Id="rId27" Type="http://schemas.openxmlformats.org/officeDocument/2006/relationships/image" Target="../media/image1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.xml"/><Relationship Id="rId18" Type="http://schemas.openxmlformats.org/officeDocument/2006/relationships/customXml" Target="../ink/ink16.xml"/><Relationship Id="rId3" Type="http://schemas.openxmlformats.org/officeDocument/2006/relationships/image" Target="../media/image3.png"/><Relationship Id="rId21" Type="http://schemas.openxmlformats.org/officeDocument/2006/relationships/image" Target="../media/image24.png"/><Relationship Id="rId7" Type="http://schemas.openxmlformats.org/officeDocument/2006/relationships/image" Target="../media/image4.png"/><Relationship Id="rId17" Type="http://schemas.openxmlformats.org/officeDocument/2006/relationships/image" Target="../media/image22.png"/><Relationship Id="rId2" Type="http://schemas.openxmlformats.org/officeDocument/2006/relationships/customXml" Target="../ink/ink9.xml"/><Relationship Id="rId16" Type="http://schemas.openxmlformats.org/officeDocument/2006/relationships/customXml" Target="../ink/ink15.xml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10.xml"/><Relationship Id="rId11" Type="http://schemas.openxmlformats.org/officeDocument/2006/relationships/image" Target="../media/image20.png"/><Relationship Id="rId15" Type="http://schemas.openxmlformats.org/officeDocument/2006/relationships/image" Target="../media/image21.png"/><Relationship Id="rId10" Type="http://schemas.openxmlformats.org/officeDocument/2006/relationships/customXml" Target="../ink/ink13.xml"/><Relationship Id="rId19" Type="http://schemas.openxmlformats.org/officeDocument/2006/relationships/image" Target="../media/image8.png"/><Relationship Id="rId9" Type="http://schemas.openxmlformats.org/officeDocument/2006/relationships/customXml" Target="../ink/ink12.xml"/><Relationship Id="rId14" Type="http://schemas.openxmlformats.org/officeDocument/2006/relationships/customXml" Target="../ink/ink1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ustomXml" Target="../ink/ink19.xml"/><Relationship Id="rId3" Type="http://schemas.openxmlformats.org/officeDocument/2006/relationships/image" Target="../media/image3.png"/><Relationship Id="rId7" Type="http://schemas.openxmlformats.org/officeDocument/2006/relationships/image" Target="../media/image4.png"/><Relationship Id="rId17" Type="http://schemas.openxmlformats.org/officeDocument/2006/relationships/image" Target="../media/image8.png"/><Relationship Id="rId2" Type="http://schemas.openxmlformats.org/officeDocument/2006/relationships/customXml" Target="../ink/ink17.xml"/><Relationship Id="rId16" Type="http://schemas.openxmlformats.org/officeDocument/2006/relationships/customXml" Target="../ink/ink23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18.xml"/><Relationship Id="rId11" Type="http://schemas.openxmlformats.org/officeDocument/2006/relationships/image" Target="../media/image20.png"/><Relationship Id="rId15" Type="http://schemas.openxmlformats.org/officeDocument/2006/relationships/image" Target="../media/image21.png"/><Relationship Id="rId10" Type="http://schemas.openxmlformats.org/officeDocument/2006/relationships/customXml" Target="../ink/ink21.xml"/><Relationship Id="rId9" Type="http://schemas.openxmlformats.org/officeDocument/2006/relationships/customXml" Target="../ink/ink20.xml"/><Relationship Id="rId14" Type="http://schemas.openxmlformats.org/officeDocument/2006/relationships/customXml" Target="../ink/ink2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 bwMode="gray">
          <a:xfrm>
            <a:off x="381000" y="3352800"/>
            <a:ext cx="3429000" cy="2133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45720" tIns="45720" rIns="45720" bIns="45720" rtlCol="0" anchor="t" anchorCtr="0">
            <a:normAutofit/>
          </a:bodyPr>
          <a:lstStyle>
            <a:lvl1pPr algn="l" defTabSz="914400" rtl="0" eaLnBrk="1" latinLnBrk="0" hangingPunct="1">
              <a:lnSpc>
                <a:spcPts val="2200"/>
              </a:lnSpc>
              <a:spcBef>
                <a:spcPct val="0"/>
              </a:spcBef>
              <a:buNone/>
              <a:defRPr sz="2400" b="1" kern="1200">
                <a:solidFill>
                  <a:srgbClr val="1F497D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FMCG Industry Overview</a:t>
            </a:r>
          </a:p>
          <a:p>
            <a:endParaRPr lang="en-US" b="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b="0" dirty="0" smtClean="0">
                <a:solidFill>
                  <a:schemeClr val="bg1">
                    <a:lumMod val="50000"/>
                  </a:schemeClr>
                </a:solidFill>
              </a:rPr>
              <a:t>SEP 2025</a:t>
            </a:r>
            <a:endParaRPr lang="en-US" b="0" dirty="0">
              <a:solidFill>
                <a:schemeClr val="bg1">
                  <a:lumMod val="50000"/>
                </a:schemeClr>
              </a:solidFill>
            </a:endParaRPr>
          </a:p>
          <a:p>
            <a:endParaRPr lang="en-US" b="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b="0" dirty="0">
                <a:solidFill>
                  <a:schemeClr val="bg1">
                    <a:lumMod val="50000"/>
                  </a:schemeClr>
                </a:solidFill>
              </a:rPr>
              <a:t>Confidential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776" y="64008"/>
            <a:ext cx="7516368" cy="704088"/>
          </a:xfrm>
        </p:spPr>
        <p:txBody>
          <a:bodyPr/>
          <a:lstStyle/>
          <a:p>
            <a:r>
              <a:rPr lang="en-US" dirty="0"/>
              <a:t>FMCG Industry in India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lIns="83969" tIns="41985" rIns="83969" bIns="41985"/>
          <a:lstStyle/>
          <a:p>
            <a:pPr>
              <a:defRPr/>
            </a:pPr>
            <a:fld id="{3DF0A6CD-C252-4C3D-881A-E42768F8F7FE}" type="slidenum">
              <a:rPr lang="zh-SG" altLang="en-US" smtClean="0"/>
              <a:pPr>
                <a:defRPr/>
              </a:pPr>
              <a:t>1</a:t>
            </a:fld>
            <a:r>
              <a:rPr lang="en-US" altLang="zh-SG" dirty="0"/>
              <a:t/>
            </a:r>
            <a:br>
              <a:rPr lang="en-US" altLang="zh-SG" dirty="0"/>
            </a:br>
            <a:endParaRPr lang="en-US" altLang="zh-SG" sz="800" dirty="0"/>
          </a:p>
        </p:txBody>
      </p:sp>
      <p:sp>
        <p:nvSpPr>
          <p:cNvPr id="6" name="Text Placeholder 3"/>
          <p:cNvSpPr txBox="1">
            <a:spLocks/>
          </p:cNvSpPr>
          <p:nvPr/>
        </p:nvSpPr>
        <p:spPr bwMode="gray">
          <a:xfrm>
            <a:off x="533400" y="1200047"/>
            <a:ext cx="4297680" cy="2148841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0" indent="0" algn="l" defTabSz="914400" rtl="0" eaLnBrk="1" latinLnBrk="0" hangingPunct="1">
              <a:spcBef>
                <a:spcPts val="800"/>
              </a:spcBef>
              <a:spcAft>
                <a:spcPts val="900"/>
              </a:spcAft>
              <a:buFont typeface="Arial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5425" indent="-225425" algn="l" defTabSz="914400" rtl="0" eaLnBrk="1" latinLnBrk="0" hangingPunct="1">
              <a:spcBef>
                <a:spcPts val="400"/>
              </a:spcBef>
              <a:spcAft>
                <a:spcPts val="400"/>
              </a:spcAft>
              <a:buClrTx/>
              <a:buFont typeface="Wingdings" pitchFamily="2" charset="2"/>
              <a:buChar char="q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3550" indent="-238125" algn="l" defTabSz="914400" rtl="0" eaLnBrk="1" latinLnBrk="0" hangingPunct="1">
              <a:spcBef>
                <a:spcPts val="300"/>
              </a:spcBef>
              <a:spcAft>
                <a:spcPts val="300"/>
              </a:spcAft>
              <a:buClrTx/>
              <a:buFont typeface="Wingdings" pitchFamily="2" charset="2"/>
              <a:buChar char="v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8975" indent="-225425" algn="l" defTabSz="914400" rtl="0" eaLnBrk="1" latinLnBrk="0" hangingPunct="1">
              <a:spcBef>
                <a:spcPts val="200"/>
              </a:spcBef>
              <a:spcAft>
                <a:spcPts val="200"/>
              </a:spcAft>
              <a:buClrTx/>
              <a:buFont typeface="Arial" pitchFamily="34" charset="0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1700" indent="-212725" algn="l" defTabSz="914400" rtl="0" eaLnBrk="1" latinLnBrk="0" hangingPunct="1"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endParaRPr lang="en-US" sz="1100" dirty="0"/>
          </a:p>
        </p:txBody>
      </p:sp>
      <p:sp>
        <p:nvSpPr>
          <p:cNvPr id="7" name="Title 1"/>
          <p:cNvSpPr txBox="1">
            <a:spLocks/>
          </p:cNvSpPr>
          <p:nvPr/>
        </p:nvSpPr>
        <p:spPr bwMode="gray">
          <a:xfrm>
            <a:off x="547048" y="925728"/>
            <a:ext cx="4297680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45720" tIns="45720" rIns="45720" bIns="45720" rtlCol="0" anchor="ctr" anchorCtr="0">
            <a:noAutofit/>
          </a:bodyPr>
          <a:lstStyle>
            <a:lvl1pPr algn="l" defTabSz="914400" rtl="0" eaLnBrk="1" latinLnBrk="0" hangingPunct="1">
              <a:lnSpc>
                <a:spcPts val="2200"/>
              </a:lnSpc>
              <a:spcBef>
                <a:spcPct val="0"/>
              </a:spcBef>
              <a:buNone/>
              <a:defRPr sz="2400" b="1" kern="1200">
                <a:solidFill>
                  <a:srgbClr val="1F497D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/>
              <a:t>Overview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 bwMode="gray">
          <a:xfrm>
            <a:off x="5151120" y="925728"/>
            <a:ext cx="4297680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45720" tIns="45720" rIns="45720" bIns="45720" rtlCol="0" anchor="ctr" anchorCtr="0">
            <a:noAutofit/>
          </a:bodyPr>
          <a:lstStyle>
            <a:lvl1pPr algn="l" defTabSz="914400" rtl="0" eaLnBrk="1" latinLnBrk="0" hangingPunct="1">
              <a:lnSpc>
                <a:spcPts val="2200"/>
              </a:lnSpc>
              <a:spcBef>
                <a:spcPct val="0"/>
              </a:spcBef>
              <a:buNone/>
              <a:defRPr sz="2400" b="1" kern="1200">
                <a:solidFill>
                  <a:srgbClr val="1F497D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/>
              <a:t>Market Size (</a:t>
            </a:r>
            <a:r>
              <a:rPr lang="en-US" sz="1600" dirty="0" smtClean="0"/>
              <a:t>US$B)</a:t>
            </a:r>
            <a:endParaRPr lang="en-US" sz="1600" baseline="30000" dirty="0"/>
          </a:p>
        </p:txBody>
      </p:sp>
      <p:sp>
        <p:nvSpPr>
          <p:cNvPr id="11" name="Title 1"/>
          <p:cNvSpPr txBox="1">
            <a:spLocks/>
          </p:cNvSpPr>
          <p:nvPr/>
        </p:nvSpPr>
        <p:spPr bwMode="gray">
          <a:xfrm>
            <a:off x="578424" y="3630847"/>
            <a:ext cx="4297680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45720" tIns="45720" rIns="45720" bIns="45720" rtlCol="0" anchor="ctr" anchorCtr="0">
            <a:noAutofit/>
          </a:bodyPr>
          <a:lstStyle>
            <a:lvl1pPr algn="l" defTabSz="914400" rtl="0" eaLnBrk="1" latinLnBrk="0" hangingPunct="1">
              <a:lnSpc>
                <a:spcPts val="2200"/>
              </a:lnSpc>
              <a:spcBef>
                <a:spcPct val="0"/>
              </a:spcBef>
              <a:buNone/>
              <a:defRPr sz="2400" b="1" kern="1200">
                <a:solidFill>
                  <a:srgbClr val="1F497D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/>
              <a:t>Major Players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7048" y="1219200"/>
            <a:ext cx="4284032" cy="2410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q"/>
            </a:pPr>
            <a:r>
              <a:rPr lang="en-US" sz="1200" dirty="0"/>
              <a:t>The FMCG sector in India expanded due to consumer-driven growth and higher product prices, especially for essential goods. </a:t>
            </a:r>
            <a:endParaRPr lang="en-US" sz="1200" dirty="0" smtClean="0"/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q"/>
            </a:pPr>
            <a:r>
              <a:rPr lang="en-US" sz="1200" dirty="0" smtClean="0"/>
              <a:t>FMCG </a:t>
            </a:r>
            <a:r>
              <a:rPr lang="en-US" sz="1200" dirty="0"/>
              <a:t>market reached </a:t>
            </a:r>
            <a:r>
              <a:rPr lang="en-US" sz="1200" dirty="0" err="1"/>
              <a:t>Rs</a:t>
            </a:r>
            <a:r>
              <a:rPr lang="en-US" sz="1200" dirty="0"/>
              <a:t>. 14,50,896 crore (US$ 167 billion) as of 2023. The total revenue of the FMCG market is expected to grow at a CAGR of 27.9% from 2021-27, reaching nearly </a:t>
            </a:r>
            <a:r>
              <a:rPr lang="en-US" sz="1200" dirty="0" err="1"/>
              <a:t>Rs</a:t>
            </a:r>
            <a:r>
              <a:rPr lang="en-US" sz="1200" dirty="0"/>
              <a:t>. 53,43,120 crore (US$ 615.87 billion). </a:t>
            </a:r>
            <a:endParaRPr lang="en-US" sz="1200" dirty="0" smtClean="0"/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q"/>
            </a:pPr>
            <a:r>
              <a:rPr lang="en-US" sz="1200" dirty="0"/>
              <a:t>In Q4 FY25, rural markets continued to outperform urban markets in the Fast-Moving Consumer Goods (FMCG) sector, with leading players such as Dabur, Marico, and AWL </a:t>
            </a:r>
            <a:r>
              <a:rPr lang="en-US" sz="1200" dirty="0" err="1"/>
              <a:t>Agri</a:t>
            </a:r>
            <a:r>
              <a:rPr lang="en-US" sz="1200" dirty="0"/>
              <a:t> Business (formerly Adani Wilmar) highlighting stronger rural demand, particularly in food categories</a:t>
            </a:r>
            <a:endParaRPr lang="en-US" sz="1200" dirty="0" smtClean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xmlns="" id="{CC733A35-EB28-4A3A-8F3F-99C3C4149576}"/>
              </a:ext>
            </a:extLst>
          </p:cNvPr>
          <p:cNvGrpSpPr/>
          <p:nvPr/>
        </p:nvGrpSpPr>
        <p:grpSpPr>
          <a:xfrm>
            <a:off x="9279044" y="6932581"/>
            <a:ext cx="8280" cy="17842"/>
            <a:chOff x="9279044" y="6932581"/>
            <a:chExt cx="8280" cy="17842"/>
          </a:xfrm>
        </p:grpSpPr>
        <mc:AlternateContent xmlns:mc="http://schemas.openxmlformats.org/markup-compatibility/2006">
          <mc:Choice xmlns:p14="http://schemas.microsoft.com/office/powerpoint/2010/main" xmlns="" Requires="p14">
            <p:contentPart p14:bwMode="auto" r:id="rId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CCAD36F-F4EF-44F2-8050-C57DC25F1E29}"/>
                    </a:ext>
                  </a:extLst>
                </p14:cNvPr>
                <p14:cNvContentPartPr/>
                <p14:nvPr/>
              </p14:nvContentPartPr>
              <p14:xfrm>
                <a:off x="9280484" y="6945023"/>
                <a:ext cx="6840" cy="54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FCCAD36F-F4EF-44F2-8050-C57DC25F1E2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271484" y="6936023"/>
                  <a:ext cx="244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="" Requires="p14">
            <p:contentPart p14:bwMode="auto" r:id="rId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FD8169F-6C96-4543-9074-C180932371F1}"/>
                    </a:ext>
                  </a:extLst>
                </p14:cNvPr>
                <p14:cNvContentPartPr/>
                <p14:nvPr/>
              </p14:nvContentPartPr>
              <p14:xfrm>
                <a:off x="9279044" y="6932581"/>
                <a:ext cx="360" cy="3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7FD8169F-6C96-4543-9074-C180932371F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270404" y="6923941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xmlns="" Requires="p14">
          <p:contentPart p14:bwMode="auto" r:id="rId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BA5DB0E1-6E31-4AAE-AD13-B8B11F5DCD46}"/>
                  </a:ext>
                </a:extLst>
              </p14:cNvPr>
              <p14:cNvContentPartPr/>
              <p14:nvPr/>
            </p14:nvContentPartPr>
            <p14:xfrm>
              <a:off x="278140" y="3692933"/>
              <a:ext cx="360" cy="36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BA5DB0E1-6E31-4AAE-AD13-B8B11F5DCD4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9500" y="368393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9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51995FF0-0A86-4724-B94B-18177A6B495B}"/>
                  </a:ext>
                </a:extLst>
              </p14:cNvPr>
              <p14:cNvContentPartPr/>
              <p14:nvPr/>
            </p14:nvContentPartPr>
            <p14:xfrm>
              <a:off x="3339220" y="1730213"/>
              <a:ext cx="360" cy="36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51995FF0-0A86-4724-B94B-18177A6B495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330220" y="172121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10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72FAAE0D-73C1-49B5-8EAA-90A8041D78B3}"/>
                  </a:ext>
                </a:extLst>
              </p14:cNvPr>
              <p14:cNvContentPartPr/>
              <p14:nvPr/>
            </p14:nvContentPartPr>
            <p14:xfrm>
              <a:off x="9926862" y="4866058"/>
              <a:ext cx="4320" cy="28440"/>
            </p14:xfrm>
          </p:contentPart>
        </mc:Choice>
        <mc:Fallback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72FAAE0D-73C1-49B5-8EAA-90A8041D78B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917862" y="4857170"/>
                <a:ext cx="21960" cy="458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12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14591935-5F25-490F-BD81-CA3BCB9492D1}"/>
                  </a:ext>
                </a:extLst>
              </p14:cNvPr>
              <p14:cNvContentPartPr/>
              <p14:nvPr/>
            </p14:nvContentPartPr>
            <p14:xfrm>
              <a:off x="9481182" y="5254138"/>
              <a:ext cx="2520" cy="2160"/>
            </p14:xfrm>
          </p:contentPart>
        </mc:Choice>
        <mc:Fallback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14591935-5F25-490F-BD81-CA3BCB9492D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472182" y="5245138"/>
                <a:ext cx="2016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14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EBDF5201-3AAC-4936-81C7-F812BB92C32C}"/>
                  </a:ext>
                </a:extLst>
              </p14:cNvPr>
              <p14:cNvContentPartPr/>
              <p14:nvPr/>
            </p14:nvContentPartPr>
            <p14:xfrm>
              <a:off x="9496302" y="5217058"/>
              <a:ext cx="26640" cy="16560"/>
            </p14:xfrm>
          </p:contentPart>
        </mc:Choice>
        <mc:Fallback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EBDF5201-3AAC-4936-81C7-F812BB92C32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487302" y="5208249"/>
                <a:ext cx="44280" cy="338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16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351B7585-C2FD-4D99-AB71-37AD04B76166}"/>
                  </a:ext>
                </a:extLst>
              </p14:cNvPr>
              <p14:cNvContentPartPr/>
              <p14:nvPr/>
            </p14:nvContentPartPr>
            <p14:xfrm flipH="1">
              <a:off x="9124423" y="5957577"/>
              <a:ext cx="45719" cy="45719"/>
            </p14:xfrm>
          </p:contentPart>
        </mc:Choice>
        <mc:Fallback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351B7585-C2FD-4D99-AB71-37AD04B7616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 flipH="1">
                <a:off x="9114484" y="5948052"/>
                <a:ext cx="65199" cy="64388"/>
              </a:xfrm>
              <a:prstGeom prst="rect">
                <a:avLst/>
              </a:prstGeom>
            </p:spPr>
          </p:pic>
        </mc:Fallback>
      </mc:AlternateContent>
      <p:sp>
        <p:nvSpPr>
          <p:cNvPr id="52" name="Text Placeholder 3">
            <a:extLst>
              <a:ext uri="{FF2B5EF4-FFF2-40B4-BE49-F238E27FC236}">
                <a16:creationId xmlns:a16="http://schemas.microsoft.com/office/drawing/2014/main" xmlns="" id="{B8AF6736-FA06-4A31-9CBB-161286B48612}"/>
              </a:ext>
            </a:extLst>
          </p:cNvPr>
          <p:cNvSpPr txBox="1">
            <a:spLocks/>
          </p:cNvSpPr>
          <p:nvPr/>
        </p:nvSpPr>
        <p:spPr bwMode="gray">
          <a:xfrm>
            <a:off x="1144163" y="3915286"/>
            <a:ext cx="2118893" cy="1921576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0" indent="0" algn="l" defTabSz="914400" rtl="0" eaLnBrk="1" latinLnBrk="0" hangingPunct="1">
              <a:spcBef>
                <a:spcPts val="800"/>
              </a:spcBef>
              <a:spcAft>
                <a:spcPts val="900"/>
              </a:spcAft>
              <a:buFont typeface="Arial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5425" indent="-225425" algn="l" defTabSz="914400" rtl="0" eaLnBrk="1" latinLnBrk="0" hangingPunct="1">
              <a:spcBef>
                <a:spcPts val="400"/>
              </a:spcBef>
              <a:spcAft>
                <a:spcPts val="400"/>
              </a:spcAft>
              <a:buClrTx/>
              <a:buFont typeface="Wingdings" pitchFamily="2" charset="2"/>
              <a:buChar char="q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3550" indent="-238125" algn="l" defTabSz="914400" rtl="0" eaLnBrk="1" latinLnBrk="0" hangingPunct="1">
              <a:spcBef>
                <a:spcPts val="300"/>
              </a:spcBef>
              <a:spcAft>
                <a:spcPts val="300"/>
              </a:spcAft>
              <a:buClrTx/>
              <a:buFont typeface="Wingdings" pitchFamily="2" charset="2"/>
              <a:buChar char="v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8975" indent="-225425" algn="l" defTabSz="914400" rtl="0" eaLnBrk="1" latinLnBrk="0" hangingPunct="1">
              <a:spcBef>
                <a:spcPts val="200"/>
              </a:spcBef>
              <a:spcAft>
                <a:spcPts val="200"/>
              </a:spcAft>
              <a:buClrTx/>
              <a:buFont typeface="Arial" pitchFamily="34" charset="0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1700" indent="-212725" algn="l" defTabSz="914400" rtl="0" eaLnBrk="1" latinLnBrk="0" hangingPunct="1"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20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GB" sz="1100" dirty="0" smtClean="0"/>
              <a:t>ITC</a:t>
            </a:r>
          </a:p>
          <a:p>
            <a:pPr lvl="1">
              <a:lnSpc>
                <a:spcPct val="20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GB" sz="1100" dirty="0"/>
              <a:t> Hindustan Unilever Limited </a:t>
            </a:r>
            <a:endParaRPr lang="en-GB" sz="1100" dirty="0" smtClean="0"/>
          </a:p>
          <a:p>
            <a:pPr lvl="1">
              <a:lnSpc>
                <a:spcPct val="20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GB" sz="1100" dirty="0" err="1" smtClean="0"/>
              <a:t>Amul</a:t>
            </a:r>
            <a:endParaRPr lang="en-GB" sz="1100" dirty="0"/>
          </a:p>
          <a:p>
            <a:pPr lvl="1">
              <a:lnSpc>
                <a:spcPct val="20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GB" sz="1100" dirty="0" smtClean="0"/>
              <a:t>Nestle India</a:t>
            </a:r>
            <a:endParaRPr lang="en-GB" sz="1100" dirty="0"/>
          </a:p>
          <a:p>
            <a:pPr lvl="1">
              <a:lnSpc>
                <a:spcPct val="200000"/>
              </a:lnSpc>
              <a:spcBef>
                <a:spcPts val="100"/>
              </a:spcBef>
              <a:spcAft>
                <a:spcPts val="100"/>
              </a:spcAft>
            </a:pPr>
            <a:r>
              <a:rPr lang="en-GB" sz="1100" dirty="0"/>
              <a:t>Britannia Industries</a:t>
            </a:r>
          </a:p>
          <a:p>
            <a:pPr lvl="1">
              <a:lnSpc>
                <a:spcPct val="125000"/>
              </a:lnSpc>
              <a:spcBef>
                <a:spcPts val="100"/>
              </a:spcBef>
              <a:spcAft>
                <a:spcPts val="100"/>
              </a:spcAft>
            </a:pPr>
            <a:endParaRPr lang="en-GB" sz="11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B6161C9D-DC25-B631-B796-2E4658AC3898}"/>
              </a:ext>
            </a:extLst>
          </p:cNvPr>
          <p:cNvSpPr txBox="1">
            <a:spLocks/>
          </p:cNvSpPr>
          <p:nvPr/>
        </p:nvSpPr>
        <p:spPr bwMode="gray">
          <a:xfrm>
            <a:off x="4222879" y="5096274"/>
            <a:ext cx="721849" cy="74015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0" indent="0" algn="l" defTabSz="914400" rtl="0" eaLnBrk="1" latinLnBrk="0" hangingPunct="1">
              <a:spcBef>
                <a:spcPts val="800"/>
              </a:spcBef>
              <a:spcAft>
                <a:spcPts val="900"/>
              </a:spcAft>
              <a:buFont typeface="Arial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5425" indent="-225425" algn="l" defTabSz="914400" rtl="0" eaLnBrk="1" latinLnBrk="0" hangingPunct="1">
              <a:spcBef>
                <a:spcPts val="400"/>
              </a:spcBef>
              <a:spcAft>
                <a:spcPts val="400"/>
              </a:spcAft>
              <a:buClrTx/>
              <a:buFont typeface="Wingdings" pitchFamily="2" charset="2"/>
              <a:buChar char="q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3550" indent="-238125" algn="l" defTabSz="914400" rtl="0" eaLnBrk="1" latinLnBrk="0" hangingPunct="1">
              <a:spcBef>
                <a:spcPts val="300"/>
              </a:spcBef>
              <a:spcAft>
                <a:spcPts val="300"/>
              </a:spcAft>
              <a:buClrTx/>
              <a:buFont typeface="Wingdings" pitchFamily="2" charset="2"/>
              <a:buChar char="v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8975" indent="-225425" algn="l" defTabSz="914400" rtl="0" eaLnBrk="1" latinLnBrk="0" hangingPunct="1">
              <a:spcBef>
                <a:spcPts val="200"/>
              </a:spcBef>
              <a:spcAft>
                <a:spcPts val="200"/>
              </a:spcAft>
              <a:buClrTx/>
              <a:buFont typeface="Arial" pitchFamily="34" charset="0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1700" indent="-212725" algn="l" defTabSz="914400" rtl="0" eaLnBrk="1" latinLnBrk="0" hangingPunct="1"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 indent="0">
              <a:lnSpc>
                <a:spcPct val="125000"/>
              </a:lnSpc>
              <a:spcBef>
                <a:spcPts val="100"/>
              </a:spcBef>
              <a:spcAft>
                <a:spcPts val="100"/>
              </a:spcAft>
              <a:buNone/>
            </a:pPr>
            <a:endParaRPr lang="en-GB" sz="11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B4D337EA-C38C-51A7-3F97-610EBA304AE2}"/>
              </a:ext>
            </a:extLst>
          </p:cNvPr>
          <p:cNvSpPr txBox="1"/>
          <p:nvPr/>
        </p:nvSpPr>
        <p:spPr>
          <a:xfrm>
            <a:off x="424550" y="5960868"/>
            <a:ext cx="87599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Source: IBEF, India Briefing, Web </a:t>
            </a:r>
            <a:r>
              <a:rPr lang="en-US" sz="800" dirty="0" smtClean="0"/>
              <a:t>search</a:t>
            </a:r>
            <a:endParaRPr lang="en-US" sz="800" dirty="0"/>
          </a:p>
        </p:txBody>
      </p:sp>
      <p:sp>
        <p:nvSpPr>
          <p:cNvPr id="43" name="Title 1">
            <a:extLst>
              <a:ext uri="{FF2B5EF4-FFF2-40B4-BE49-F238E27FC236}">
                <a16:creationId xmlns:a16="http://schemas.microsoft.com/office/drawing/2014/main" xmlns="" id="{A10A2499-C2EA-6BC5-8037-4EF946CE56C5}"/>
              </a:ext>
            </a:extLst>
          </p:cNvPr>
          <p:cNvSpPr txBox="1">
            <a:spLocks/>
          </p:cNvSpPr>
          <p:nvPr/>
        </p:nvSpPr>
        <p:spPr bwMode="gray">
          <a:xfrm>
            <a:off x="5334553" y="3692933"/>
            <a:ext cx="4297680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45720" tIns="45720" rIns="45720" bIns="45720" rtlCol="0" anchor="ctr" anchorCtr="0">
            <a:noAutofit/>
          </a:bodyPr>
          <a:lstStyle>
            <a:lvl1pPr algn="l" defTabSz="914400" rtl="0" eaLnBrk="1" latinLnBrk="0" hangingPunct="1">
              <a:lnSpc>
                <a:spcPts val="2200"/>
              </a:lnSpc>
              <a:spcBef>
                <a:spcPct val="0"/>
              </a:spcBef>
              <a:buNone/>
              <a:defRPr sz="2400" b="1" kern="1200">
                <a:solidFill>
                  <a:srgbClr val="1F497D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 smtClean="0"/>
              <a:t>Investment and policy support</a:t>
            </a:r>
            <a:endParaRPr lang="en-US" sz="160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7330" t="17931" r="9067"/>
          <a:stretch/>
        </p:blipFill>
        <p:spPr>
          <a:xfrm>
            <a:off x="5362683" y="1428136"/>
            <a:ext cx="4048017" cy="18697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4" name="Rectangle 33"/>
          <p:cNvSpPr/>
          <p:nvPr/>
        </p:nvSpPr>
        <p:spPr>
          <a:xfrm>
            <a:off x="5438925" y="4161096"/>
            <a:ext cx="3996772" cy="16209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q"/>
            </a:pPr>
            <a:r>
              <a:rPr lang="en-US" sz="1200" dirty="0"/>
              <a:t>The Union Budget 2025-26 provides a strong push to consumer spending, particularly benefiting the FMCG industry. The increase in disposable income, rural development focus, and MSME support create an ideal environment for growth</a:t>
            </a:r>
            <a:r>
              <a:rPr lang="en-US" sz="1200" dirty="0" smtClean="0"/>
              <a:t>.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q"/>
            </a:pPr>
            <a:r>
              <a:rPr lang="en-US" sz="1200" dirty="0" err="1"/>
              <a:t>Amul</a:t>
            </a:r>
            <a:r>
              <a:rPr lang="en-US" sz="1200" dirty="0"/>
              <a:t> will set up the world's largest curd plant in Kolkata, West Bengal, with an investment of </a:t>
            </a:r>
            <a:r>
              <a:rPr lang="en-US" sz="1200" dirty="0" err="1"/>
              <a:t>Rs</a:t>
            </a:r>
            <a:r>
              <a:rPr lang="en-US" sz="1200" dirty="0"/>
              <a:t>. 600 crore (US$ 68.6 million), processing 10 lakh kilograms (KG) daily.</a:t>
            </a:r>
          </a:p>
        </p:txBody>
      </p:sp>
      <p:pic>
        <p:nvPicPr>
          <p:cNvPr id="2050" name="Picture 2" descr="ITC Limited "/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40224" y="3912569"/>
            <a:ext cx="517264" cy="3094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industan Unilever | Logopedia | Fandom powered by Wikia"/>
          <p:cNvPicPr>
            <a:picLocks noChangeAspect="1" noChangeArrowheads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49950" y="4272011"/>
            <a:ext cx="622200" cy="222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Amul "/>
          <p:cNvPicPr>
            <a:picLocks noChangeAspect="1" noChangeArrowheads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90857" y="4618423"/>
            <a:ext cx="415997" cy="208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Nestle India Share Price Live Updates: Nestle India Stock Analysis ..."/>
          <p:cNvPicPr>
            <a:picLocks noChangeAspect="1" noChangeArrowheads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571814" y="4884747"/>
            <a:ext cx="496930" cy="520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2062" name="Picture 14" descr="britannia vector logo"/>
          <p:cNvPicPr>
            <a:picLocks noChangeAspect="1" noChangeArrowheads="1"/>
          </p:cNvPicPr>
          <p:nvPr/>
        </p:nvPicPr>
        <p:blipFill rotWithShape="1">
          <a:blip r:embed="rId2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0099" t="10981" r="11095" b="25245"/>
          <a:stretch/>
        </p:blipFill>
        <p:spPr bwMode="auto">
          <a:xfrm>
            <a:off x="305963" y="5362821"/>
            <a:ext cx="838200" cy="4192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2068" name="Picture 20" descr="Godrej Consumer Products Limited - Alchetron, the free social encyclopedia"/>
          <p:cNvPicPr>
            <a:picLocks noChangeAspect="1" noChangeArrowheads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018393" y="3943982"/>
            <a:ext cx="547814" cy="3402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Rectangle 48"/>
          <p:cNvSpPr/>
          <p:nvPr/>
        </p:nvSpPr>
        <p:spPr>
          <a:xfrm>
            <a:off x="3087566" y="3852266"/>
            <a:ext cx="2404679" cy="2785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8650" lvl="1" indent="-171450">
              <a:lnSpc>
                <a:spcPct val="200000"/>
              </a:lnSpc>
              <a:spcBef>
                <a:spcPts val="100"/>
              </a:spcBef>
              <a:spcAft>
                <a:spcPts val="100"/>
              </a:spcAft>
              <a:buFont typeface="Wingdings" panose="05000000000000000000" pitchFamily="2" charset="2"/>
              <a:buChar char="q"/>
            </a:pPr>
            <a:r>
              <a:rPr lang="en-GB" sz="1100" dirty="0" smtClean="0"/>
              <a:t>Godrej </a:t>
            </a:r>
            <a:r>
              <a:rPr lang="en-GB" sz="1100" dirty="0"/>
              <a:t>Consumer </a:t>
            </a:r>
            <a:r>
              <a:rPr lang="en-GB" sz="1100" dirty="0" smtClean="0"/>
              <a:t>Products</a:t>
            </a:r>
          </a:p>
          <a:p>
            <a:pPr marL="628650" lvl="1" indent="-171450">
              <a:lnSpc>
                <a:spcPct val="200000"/>
              </a:lnSpc>
              <a:spcBef>
                <a:spcPts val="100"/>
              </a:spcBef>
              <a:spcAft>
                <a:spcPts val="100"/>
              </a:spcAft>
              <a:buFont typeface="Wingdings" panose="05000000000000000000" pitchFamily="2" charset="2"/>
              <a:buChar char="q"/>
            </a:pPr>
            <a:r>
              <a:rPr lang="en-GB" sz="1100" dirty="0"/>
              <a:t>Marico </a:t>
            </a:r>
            <a:r>
              <a:rPr lang="en-GB" sz="1100" dirty="0" smtClean="0"/>
              <a:t>Limited</a:t>
            </a:r>
          </a:p>
          <a:p>
            <a:pPr marL="628650" lvl="1" indent="-171450">
              <a:lnSpc>
                <a:spcPct val="200000"/>
              </a:lnSpc>
              <a:spcBef>
                <a:spcPts val="100"/>
              </a:spcBef>
              <a:spcAft>
                <a:spcPts val="100"/>
              </a:spcAft>
              <a:buFont typeface="Wingdings" panose="05000000000000000000" pitchFamily="2" charset="2"/>
              <a:buChar char="q"/>
            </a:pPr>
            <a:r>
              <a:rPr lang="en-GB" sz="1100" dirty="0"/>
              <a:t>Tata Consumer </a:t>
            </a:r>
            <a:r>
              <a:rPr lang="en-GB" sz="1100" dirty="0" smtClean="0"/>
              <a:t>Products</a:t>
            </a:r>
          </a:p>
          <a:p>
            <a:pPr marL="628650" lvl="1" indent="-171450">
              <a:lnSpc>
                <a:spcPct val="250000"/>
              </a:lnSpc>
              <a:spcBef>
                <a:spcPts val="100"/>
              </a:spcBef>
              <a:spcAft>
                <a:spcPts val="100"/>
              </a:spcAft>
              <a:buFont typeface="Wingdings" panose="05000000000000000000" pitchFamily="2" charset="2"/>
              <a:buChar char="q"/>
            </a:pPr>
            <a:r>
              <a:rPr lang="en-GB" sz="1100" dirty="0"/>
              <a:t>Dabur India</a:t>
            </a:r>
          </a:p>
          <a:p>
            <a:pPr marL="628650" lvl="1" indent="-171450">
              <a:lnSpc>
                <a:spcPct val="250000"/>
              </a:lnSpc>
              <a:spcBef>
                <a:spcPts val="100"/>
              </a:spcBef>
              <a:spcAft>
                <a:spcPts val="100"/>
              </a:spcAft>
              <a:buFont typeface="Wingdings" panose="05000000000000000000" pitchFamily="2" charset="2"/>
              <a:buChar char="q"/>
            </a:pPr>
            <a:r>
              <a:rPr lang="en-GB" sz="1100" dirty="0"/>
              <a:t>Varun Beverages</a:t>
            </a:r>
          </a:p>
          <a:p>
            <a:pPr marL="628650" lvl="1" indent="-171450">
              <a:lnSpc>
                <a:spcPct val="200000"/>
              </a:lnSpc>
              <a:spcBef>
                <a:spcPts val="100"/>
              </a:spcBef>
              <a:spcAft>
                <a:spcPts val="100"/>
              </a:spcAft>
              <a:buFont typeface="Wingdings" panose="05000000000000000000" pitchFamily="2" charset="2"/>
              <a:buChar char="q"/>
            </a:pPr>
            <a:endParaRPr lang="en-GB" sz="1100" dirty="0"/>
          </a:p>
          <a:p>
            <a:pPr lvl="1">
              <a:lnSpc>
                <a:spcPct val="200000"/>
              </a:lnSpc>
              <a:spcBef>
                <a:spcPts val="100"/>
              </a:spcBef>
              <a:spcAft>
                <a:spcPts val="100"/>
              </a:spcAft>
            </a:pPr>
            <a:endParaRPr lang="en-GB" sz="1100" dirty="0"/>
          </a:p>
        </p:txBody>
      </p:sp>
      <p:pic>
        <p:nvPicPr>
          <p:cNvPr id="53" name="Picture 52"/>
          <p:cNvPicPr>
            <a:picLocks noChangeAspect="1"/>
          </p:cNvPicPr>
          <p:nvPr/>
        </p:nvPicPr>
        <p:blipFill rotWithShape="1">
          <a:blip r:embed="rId25" cstate="print"/>
          <a:srcRect l="12940" t="-4665" r="17245" b="11732"/>
          <a:stretch/>
        </p:blipFill>
        <p:spPr>
          <a:xfrm>
            <a:off x="3018393" y="4310216"/>
            <a:ext cx="533400" cy="381000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/>
        </p:nvPicPr>
        <p:blipFill rotWithShape="1">
          <a:blip r:embed="rId26" cstate="print"/>
          <a:srcRect l="14539" t="11992" r="15958" b="40950"/>
          <a:stretch/>
        </p:blipFill>
        <p:spPr>
          <a:xfrm>
            <a:off x="2913657" y="4728788"/>
            <a:ext cx="734714" cy="389848"/>
          </a:xfrm>
          <a:prstGeom prst="rect">
            <a:avLst/>
          </a:prstGeom>
        </p:spPr>
      </p:pic>
      <p:pic>
        <p:nvPicPr>
          <p:cNvPr id="67" name="Picture 2" descr="Top ayurvedic brands in India"/>
          <p:cNvPicPr>
            <a:picLocks noChangeAspect="1" noChangeArrowheads="1"/>
          </p:cNvPicPr>
          <p:nvPr/>
        </p:nvPicPr>
        <p:blipFill rotWithShape="1">
          <a:blip r:embed="rId27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8294" t="25807" r="33182" b="16863"/>
          <a:stretch/>
        </p:blipFill>
        <p:spPr bwMode="auto">
          <a:xfrm>
            <a:off x="3045713" y="5196407"/>
            <a:ext cx="457200" cy="382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Picture 55"/>
          <p:cNvPicPr>
            <a:picLocks noChangeAspect="1"/>
          </p:cNvPicPr>
          <p:nvPr/>
        </p:nvPicPr>
        <p:blipFill>
          <a:blip r:embed="rId28" cstate="print"/>
          <a:stretch>
            <a:fillRect/>
          </a:stretch>
        </p:blipFill>
        <p:spPr>
          <a:xfrm>
            <a:off x="3069703" y="5640143"/>
            <a:ext cx="360843" cy="21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773659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776" y="64008"/>
            <a:ext cx="7516368" cy="704088"/>
          </a:xfrm>
        </p:spPr>
        <p:txBody>
          <a:bodyPr/>
          <a:lstStyle/>
          <a:p>
            <a:r>
              <a:rPr lang="en-US" dirty="0"/>
              <a:t>FMCG Industry in India (Cont’d)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lIns="83969" tIns="41985" rIns="83969" bIns="41985"/>
          <a:lstStyle/>
          <a:p>
            <a:pPr>
              <a:defRPr/>
            </a:pPr>
            <a:fld id="{3DF0A6CD-C252-4C3D-881A-E42768F8F7FE}" type="slidenum">
              <a:rPr lang="zh-SG" altLang="en-US" smtClean="0"/>
              <a:pPr>
                <a:defRPr/>
              </a:pPr>
              <a:t>2</a:t>
            </a:fld>
            <a:r>
              <a:rPr lang="en-US" altLang="zh-SG" dirty="0"/>
              <a:t/>
            </a:r>
            <a:br>
              <a:rPr lang="en-US" altLang="zh-SG" dirty="0"/>
            </a:br>
            <a:endParaRPr lang="en-US" altLang="zh-SG" sz="800" dirty="0"/>
          </a:p>
        </p:txBody>
      </p:sp>
      <p:sp>
        <p:nvSpPr>
          <p:cNvPr id="6" name="Text Placeholder 3"/>
          <p:cNvSpPr txBox="1">
            <a:spLocks/>
          </p:cNvSpPr>
          <p:nvPr/>
        </p:nvSpPr>
        <p:spPr bwMode="gray">
          <a:xfrm>
            <a:off x="533400" y="1200047"/>
            <a:ext cx="4297680" cy="2148841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0" indent="0" algn="l" defTabSz="914400" rtl="0" eaLnBrk="1" latinLnBrk="0" hangingPunct="1">
              <a:spcBef>
                <a:spcPts val="800"/>
              </a:spcBef>
              <a:spcAft>
                <a:spcPts val="900"/>
              </a:spcAft>
              <a:buFont typeface="Arial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5425" indent="-225425" algn="l" defTabSz="914400" rtl="0" eaLnBrk="1" latinLnBrk="0" hangingPunct="1">
              <a:spcBef>
                <a:spcPts val="400"/>
              </a:spcBef>
              <a:spcAft>
                <a:spcPts val="400"/>
              </a:spcAft>
              <a:buClrTx/>
              <a:buFont typeface="Wingdings" pitchFamily="2" charset="2"/>
              <a:buChar char="q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3550" indent="-238125" algn="l" defTabSz="914400" rtl="0" eaLnBrk="1" latinLnBrk="0" hangingPunct="1">
              <a:spcBef>
                <a:spcPts val="300"/>
              </a:spcBef>
              <a:spcAft>
                <a:spcPts val="300"/>
              </a:spcAft>
              <a:buClrTx/>
              <a:buFont typeface="Wingdings" pitchFamily="2" charset="2"/>
              <a:buChar char="v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8975" indent="-225425" algn="l" defTabSz="914400" rtl="0" eaLnBrk="1" latinLnBrk="0" hangingPunct="1">
              <a:spcBef>
                <a:spcPts val="200"/>
              </a:spcBef>
              <a:spcAft>
                <a:spcPts val="200"/>
              </a:spcAft>
              <a:buClrTx/>
              <a:buFont typeface="Arial" pitchFamily="34" charset="0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1700" indent="-212725" algn="l" defTabSz="914400" rtl="0" eaLnBrk="1" latinLnBrk="0" hangingPunct="1"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endParaRPr lang="en-US" sz="1100" dirty="0"/>
          </a:p>
        </p:txBody>
      </p:sp>
      <p:sp>
        <p:nvSpPr>
          <p:cNvPr id="7" name="Title 1"/>
          <p:cNvSpPr txBox="1">
            <a:spLocks/>
          </p:cNvSpPr>
          <p:nvPr/>
        </p:nvSpPr>
        <p:spPr bwMode="gray">
          <a:xfrm>
            <a:off x="547048" y="925728"/>
            <a:ext cx="4297680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45720" tIns="45720" rIns="45720" bIns="45720" rtlCol="0" anchor="ctr" anchorCtr="0">
            <a:noAutofit/>
          </a:bodyPr>
          <a:lstStyle>
            <a:lvl1pPr algn="l" defTabSz="914400" rtl="0" eaLnBrk="1" latinLnBrk="0" hangingPunct="1">
              <a:lnSpc>
                <a:spcPts val="2200"/>
              </a:lnSpc>
              <a:spcBef>
                <a:spcPct val="0"/>
              </a:spcBef>
              <a:buNone/>
              <a:defRPr sz="2400" b="1" kern="1200">
                <a:solidFill>
                  <a:srgbClr val="1F497D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/>
              <a:t>Key Drivers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 bwMode="gray">
          <a:xfrm>
            <a:off x="5119048" y="925728"/>
            <a:ext cx="4297680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45720" tIns="45720" rIns="45720" bIns="45720" rtlCol="0" anchor="ctr" anchorCtr="0">
            <a:noAutofit/>
          </a:bodyPr>
          <a:lstStyle>
            <a:lvl1pPr algn="l" defTabSz="914400" rtl="0" eaLnBrk="1" latinLnBrk="0" hangingPunct="1">
              <a:lnSpc>
                <a:spcPts val="2200"/>
              </a:lnSpc>
              <a:spcBef>
                <a:spcPct val="0"/>
              </a:spcBef>
              <a:buNone/>
              <a:defRPr sz="2400" b="1" kern="1200">
                <a:solidFill>
                  <a:srgbClr val="1F497D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/>
              <a:t>Market Segments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xmlns="" id="{CC733A35-EB28-4A3A-8F3F-99C3C4149576}"/>
              </a:ext>
            </a:extLst>
          </p:cNvPr>
          <p:cNvGrpSpPr/>
          <p:nvPr/>
        </p:nvGrpSpPr>
        <p:grpSpPr>
          <a:xfrm>
            <a:off x="9279044" y="6932581"/>
            <a:ext cx="8280" cy="17842"/>
            <a:chOff x="9279044" y="6932581"/>
            <a:chExt cx="8280" cy="17842"/>
          </a:xfrm>
        </p:grpSpPr>
        <mc:AlternateContent xmlns:mc="http://schemas.openxmlformats.org/markup-compatibility/2006">
          <mc:Choice xmlns:p14="http://schemas.microsoft.com/office/powerpoint/2010/main" xmlns="" Requires="p14">
            <p:contentPart p14:bwMode="auto" r:id="rId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CCAD36F-F4EF-44F2-8050-C57DC25F1E29}"/>
                    </a:ext>
                  </a:extLst>
                </p14:cNvPr>
                <p14:cNvContentPartPr/>
                <p14:nvPr/>
              </p14:nvContentPartPr>
              <p14:xfrm>
                <a:off x="9280484" y="6945023"/>
                <a:ext cx="6840" cy="54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FCCAD36F-F4EF-44F2-8050-C57DC25F1E2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271484" y="6936023"/>
                  <a:ext cx="244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="" Requires="p14">
            <p:contentPart p14:bwMode="auto" r:id="rId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FD8169F-6C96-4543-9074-C180932371F1}"/>
                    </a:ext>
                  </a:extLst>
                </p14:cNvPr>
                <p14:cNvContentPartPr/>
                <p14:nvPr/>
              </p14:nvContentPartPr>
              <p14:xfrm>
                <a:off x="9279044" y="6932581"/>
                <a:ext cx="360" cy="3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7FD8169F-6C96-4543-9074-C180932371F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270404" y="6923941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xmlns="" Requires="p14">
          <p:contentPart p14:bwMode="auto" r:id="rId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BA5DB0E1-6E31-4AAE-AD13-B8B11F5DCD46}"/>
                  </a:ext>
                </a:extLst>
              </p14:cNvPr>
              <p14:cNvContentPartPr/>
              <p14:nvPr/>
            </p14:nvContentPartPr>
            <p14:xfrm>
              <a:off x="278140" y="3692933"/>
              <a:ext cx="360" cy="36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BA5DB0E1-6E31-4AAE-AD13-B8B11F5DCD4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9500" y="368393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9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51995FF0-0A86-4724-B94B-18177A6B495B}"/>
                  </a:ext>
                </a:extLst>
              </p14:cNvPr>
              <p14:cNvContentPartPr/>
              <p14:nvPr/>
            </p14:nvContentPartPr>
            <p14:xfrm>
              <a:off x="3339220" y="1730213"/>
              <a:ext cx="360" cy="36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51995FF0-0A86-4724-B94B-18177A6B495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330220" y="172121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10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72FAAE0D-73C1-49B5-8EAA-90A8041D78B3}"/>
                  </a:ext>
                </a:extLst>
              </p14:cNvPr>
              <p14:cNvContentPartPr/>
              <p14:nvPr/>
            </p14:nvContentPartPr>
            <p14:xfrm>
              <a:off x="6896738" y="4822065"/>
              <a:ext cx="4320" cy="28440"/>
            </p14:xfrm>
          </p:contentPart>
        </mc:Choice>
        <mc:Fallback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72FAAE0D-73C1-49B5-8EAA-90A8041D78B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887738" y="4813065"/>
                <a:ext cx="2196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14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14591935-5F25-490F-BD81-CA3BCB9492D1}"/>
                  </a:ext>
                </a:extLst>
              </p14:cNvPr>
              <p14:cNvContentPartPr/>
              <p14:nvPr/>
            </p14:nvContentPartPr>
            <p14:xfrm>
              <a:off x="6451058" y="5210145"/>
              <a:ext cx="2520" cy="2160"/>
            </p14:xfrm>
          </p:contentPart>
        </mc:Choice>
        <mc:Fallback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14591935-5F25-490F-BD81-CA3BCB9492D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442418" y="5201505"/>
                <a:ext cx="2016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16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EBDF5201-3AAC-4936-81C7-F812BB92C32C}"/>
                  </a:ext>
                </a:extLst>
              </p14:cNvPr>
              <p14:cNvContentPartPr/>
              <p14:nvPr/>
            </p14:nvContentPartPr>
            <p14:xfrm>
              <a:off x="6466178" y="5173065"/>
              <a:ext cx="26640" cy="16560"/>
            </p14:xfrm>
          </p:contentPart>
        </mc:Choice>
        <mc:Fallback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EBDF5201-3AAC-4936-81C7-F812BB92C32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457538" y="5164065"/>
                <a:ext cx="4428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18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351B7585-C2FD-4D99-AB71-37AD04B76166}"/>
                  </a:ext>
                </a:extLst>
              </p14:cNvPr>
              <p14:cNvContentPartPr/>
              <p14:nvPr/>
            </p14:nvContentPartPr>
            <p14:xfrm flipH="1">
              <a:off x="6094299" y="5913584"/>
              <a:ext cx="45719" cy="45719"/>
            </p14:xfrm>
          </p:contentPart>
        </mc:Choice>
        <mc:Fallback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351B7585-C2FD-4D99-AB71-37AD04B7616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 flipH="1">
                <a:off x="6084758" y="5904059"/>
                <a:ext cx="65199" cy="64388"/>
              </a:xfrm>
              <a:prstGeom prst="rect">
                <a:avLst/>
              </a:prstGeom>
            </p:spPr>
          </p:pic>
        </mc:Fallback>
      </mc:AlternateContent>
      <p:sp>
        <p:nvSpPr>
          <p:cNvPr id="27" name="Title 1">
            <a:extLst>
              <a:ext uri="{FF2B5EF4-FFF2-40B4-BE49-F238E27FC236}">
                <a16:creationId xmlns:a16="http://schemas.microsoft.com/office/drawing/2014/main" xmlns="" id="{02410D3D-A343-4889-8F3E-C798FE8136CA}"/>
              </a:ext>
            </a:extLst>
          </p:cNvPr>
          <p:cNvSpPr txBox="1">
            <a:spLocks/>
          </p:cNvSpPr>
          <p:nvPr/>
        </p:nvSpPr>
        <p:spPr bwMode="gray">
          <a:xfrm>
            <a:off x="5081270" y="3417298"/>
            <a:ext cx="4297680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45720" tIns="45720" rIns="45720" bIns="45720" rtlCol="0" anchor="ctr" anchorCtr="0">
            <a:noAutofit/>
          </a:bodyPr>
          <a:lstStyle>
            <a:lvl1pPr algn="l" defTabSz="914400" rtl="0" eaLnBrk="1" latinLnBrk="0" hangingPunct="1">
              <a:lnSpc>
                <a:spcPts val="2200"/>
              </a:lnSpc>
              <a:spcBef>
                <a:spcPct val="0"/>
              </a:spcBef>
              <a:buNone/>
              <a:defRPr sz="2400" b="1" kern="1200">
                <a:solidFill>
                  <a:srgbClr val="1F497D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600" dirty="0"/>
              <a:t>Key Trends in </a:t>
            </a:r>
            <a:r>
              <a:rPr lang="en-GB" sz="1600" dirty="0" smtClean="0"/>
              <a:t>FMCG</a:t>
            </a:r>
            <a:endParaRPr lang="en-GB" sz="1600" dirty="0"/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xmlns="" id="{BA5B1F19-2EB5-448F-9912-E16B0EDD8EB9}"/>
              </a:ext>
            </a:extLst>
          </p:cNvPr>
          <p:cNvSpPr txBox="1">
            <a:spLocks/>
          </p:cNvSpPr>
          <p:nvPr/>
        </p:nvSpPr>
        <p:spPr bwMode="gray">
          <a:xfrm>
            <a:off x="5119048" y="3849250"/>
            <a:ext cx="4297680" cy="2116735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0" indent="0" algn="l" defTabSz="914400" rtl="0" eaLnBrk="1" latinLnBrk="0" hangingPunct="1">
              <a:spcBef>
                <a:spcPts val="800"/>
              </a:spcBef>
              <a:spcAft>
                <a:spcPts val="900"/>
              </a:spcAft>
              <a:buFont typeface="Arial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5425" indent="-225425" algn="l" defTabSz="914400" rtl="0" eaLnBrk="1" latinLnBrk="0" hangingPunct="1">
              <a:spcBef>
                <a:spcPts val="400"/>
              </a:spcBef>
              <a:spcAft>
                <a:spcPts val="400"/>
              </a:spcAft>
              <a:buClrTx/>
              <a:buFont typeface="Wingdings" pitchFamily="2" charset="2"/>
              <a:buChar char="q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3550" indent="-238125" algn="l" defTabSz="914400" rtl="0" eaLnBrk="1" latinLnBrk="0" hangingPunct="1">
              <a:spcBef>
                <a:spcPts val="300"/>
              </a:spcBef>
              <a:spcAft>
                <a:spcPts val="300"/>
              </a:spcAft>
              <a:buClrTx/>
              <a:buFont typeface="Wingdings" pitchFamily="2" charset="2"/>
              <a:buChar char="v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8975" indent="-225425" algn="l" defTabSz="914400" rtl="0" eaLnBrk="1" latinLnBrk="0" hangingPunct="1">
              <a:spcBef>
                <a:spcPts val="200"/>
              </a:spcBef>
              <a:spcAft>
                <a:spcPts val="200"/>
              </a:spcAft>
              <a:buClrTx/>
              <a:buFont typeface="Arial" pitchFamily="34" charset="0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1700" indent="-212725" algn="l" defTabSz="914400" rtl="0" eaLnBrk="1" latinLnBrk="0" hangingPunct="1"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</a:pPr>
            <a:endParaRPr lang="en-GB" sz="1200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xmlns="" id="{BEB0CE9F-1E05-4141-A458-217FBBA422EE}"/>
              </a:ext>
            </a:extLst>
          </p:cNvPr>
          <p:cNvSpPr txBox="1">
            <a:spLocks/>
          </p:cNvSpPr>
          <p:nvPr/>
        </p:nvSpPr>
        <p:spPr bwMode="gray">
          <a:xfrm>
            <a:off x="558720" y="3425712"/>
            <a:ext cx="4297680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45720" tIns="45720" rIns="45720" bIns="45720" rtlCol="0" anchor="ctr" anchorCtr="0">
            <a:noAutofit/>
          </a:bodyPr>
          <a:lstStyle>
            <a:lvl1pPr algn="l" defTabSz="914400" rtl="0" eaLnBrk="1" latinLnBrk="0" hangingPunct="1">
              <a:lnSpc>
                <a:spcPts val="2200"/>
              </a:lnSpc>
              <a:spcBef>
                <a:spcPct val="0"/>
              </a:spcBef>
              <a:buNone/>
              <a:defRPr sz="2400" b="1" kern="1200">
                <a:solidFill>
                  <a:srgbClr val="1F497D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/>
              <a:t>Recent Activities / News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xmlns="" id="{AC1FF2BD-9873-4C23-964C-31E5AC529780}"/>
              </a:ext>
            </a:extLst>
          </p:cNvPr>
          <p:cNvSpPr txBox="1">
            <a:spLocks/>
          </p:cNvSpPr>
          <p:nvPr/>
        </p:nvSpPr>
        <p:spPr bwMode="gray">
          <a:xfrm>
            <a:off x="296456" y="3700032"/>
            <a:ext cx="4297680" cy="2424551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0" indent="0" algn="l" defTabSz="914400" rtl="0" eaLnBrk="1" latinLnBrk="0" hangingPunct="1">
              <a:spcBef>
                <a:spcPts val="800"/>
              </a:spcBef>
              <a:spcAft>
                <a:spcPts val="900"/>
              </a:spcAft>
              <a:buFont typeface="Arial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5425" indent="-225425" algn="l" defTabSz="914400" rtl="0" eaLnBrk="1" latinLnBrk="0" hangingPunct="1">
              <a:spcBef>
                <a:spcPts val="400"/>
              </a:spcBef>
              <a:spcAft>
                <a:spcPts val="400"/>
              </a:spcAft>
              <a:buClrTx/>
              <a:buFont typeface="Wingdings" pitchFamily="2" charset="2"/>
              <a:buChar char="q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3550" indent="-238125" algn="l" defTabSz="914400" rtl="0" eaLnBrk="1" latinLnBrk="0" hangingPunct="1">
              <a:spcBef>
                <a:spcPts val="300"/>
              </a:spcBef>
              <a:spcAft>
                <a:spcPts val="300"/>
              </a:spcAft>
              <a:buClrTx/>
              <a:buFont typeface="Wingdings" pitchFamily="2" charset="2"/>
              <a:buChar char="v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8975" indent="-225425" algn="l" defTabSz="914400" rtl="0" eaLnBrk="1" latinLnBrk="0" hangingPunct="1">
              <a:spcBef>
                <a:spcPts val="200"/>
              </a:spcBef>
              <a:spcAft>
                <a:spcPts val="200"/>
              </a:spcAft>
              <a:buClrTx/>
              <a:buFont typeface="Arial" pitchFamily="34" charset="0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1700" indent="-212725" algn="l" defTabSz="914400" rtl="0" eaLnBrk="1" latinLnBrk="0" hangingPunct="1"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endParaRPr lang="en-GB" sz="1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0731D2C-D1F2-6A5A-77E4-ACCBFD2EC924}"/>
              </a:ext>
            </a:extLst>
          </p:cNvPr>
          <p:cNvSpPr txBox="1"/>
          <p:nvPr/>
        </p:nvSpPr>
        <p:spPr>
          <a:xfrm>
            <a:off x="575316" y="6007945"/>
            <a:ext cx="87599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Source: India Briefing, Web search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088257" y="1354526"/>
            <a:ext cx="4329431" cy="18970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910226" y="3862894"/>
            <a:ext cx="4500474" cy="20440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Rectangle 11"/>
          <p:cNvSpPr/>
          <p:nvPr/>
        </p:nvSpPr>
        <p:spPr>
          <a:xfrm>
            <a:off x="815260" y="3800434"/>
            <a:ext cx="3756740" cy="33752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q"/>
            </a:pPr>
            <a:r>
              <a:rPr lang="en-US" sz="1200" b="1" dirty="0"/>
              <a:t>Sep 25 </a:t>
            </a:r>
            <a:r>
              <a:rPr lang="en-US" sz="1200" dirty="0"/>
              <a:t>: The GST reforms will reduce rates on essential FMCG </a:t>
            </a:r>
            <a:r>
              <a:rPr lang="en-US" sz="1200" dirty="0" smtClean="0"/>
              <a:t>products.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q"/>
            </a:pPr>
            <a:endParaRPr lang="en-US" sz="1200" dirty="0"/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q"/>
            </a:pPr>
            <a:r>
              <a:rPr lang="en-US" sz="1200" b="1" dirty="0"/>
              <a:t>July 2025 </a:t>
            </a:r>
            <a:r>
              <a:rPr lang="en-US" sz="1200" dirty="0"/>
              <a:t>: FMCG makers see impact of erratic weather on topline growth in Q1FY26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endParaRPr lang="en-US" sz="1200" dirty="0" smtClean="0"/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q"/>
            </a:pPr>
            <a:r>
              <a:rPr lang="en-US" sz="1200" b="1" dirty="0" smtClean="0"/>
              <a:t>Jun 2025</a:t>
            </a:r>
            <a:r>
              <a:rPr lang="en-US" sz="1200" dirty="0" smtClean="0"/>
              <a:t>:FMCG </a:t>
            </a:r>
            <a:r>
              <a:rPr lang="en-US" sz="1200" dirty="0"/>
              <a:t>companies see muted Q4 performance amid weak urban demand; rural recovery </a:t>
            </a:r>
            <a:r>
              <a:rPr lang="en-US" sz="1200" dirty="0" smtClean="0"/>
              <a:t>offers some relief. (source : ET)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q"/>
            </a:pPr>
            <a:endParaRPr lang="en-US" sz="1200" dirty="0" smtClean="0"/>
          </a:p>
          <a:p>
            <a:pPr>
              <a:spcBef>
                <a:spcPts val="200"/>
              </a:spcBef>
              <a:spcAft>
                <a:spcPts val="200"/>
              </a:spcAft>
            </a:pPr>
            <a:endParaRPr lang="en-US" sz="1200" dirty="0"/>
          </a:p>
          <a:p>
            <a:pPr>
              <a:spcBef>
                <a:spcPts val="200"/>
              </a:spcBef>
              <a:spcAft>
                <a:spcPts val="200"/>
              </a:spcAft>
            </a:pPr>
            <a:endParaRPr lang="en-US" sz="1200" dirty="0" smtClean="0"/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q"/>
            </a:pPr>
            <a:endParaRPr lang="en-US" sz="1200" dirty="0"/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q"/>
            </a:pPr>
            <a:endParaRPr lang="en-US" sz="1200" dirty="0" smtClean="0"/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q"/>
            </a:pPr>
            <a:endParaRPr lang="en-US" sz="1200" dirty="0"/>
          </a:p>
        </p:txBody>
      </p:sp>
      <p:sp>
        <p:nvSpPr>
          <p:cNvPr id="3" name="Rectangle 2"/>
          <p:cNvSpPr/>
          <p:nvPr/>
        </p:nvSpPr>
        <p:spPr>
          <a:xfrm>
            <a:off x="712458" y="1318058"/>
            <a:ext cx="4132270" cy="2041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q"/>
            </a:pPr>
            <a:r>
              <a:rPr lang="en-US" sz="1200" b="1" dirty="0"/>
              <a:t>Shift to </a:t>
            </a:r>
            <a:r>
              <a:rPr lang="en-US" sz="1200" b="1" dirty="0" err="1"/>
              <a:t>Organised</a:t>
            </a:r>
            <a:r>
              <a:rPr lang="en-US" sz="1200" b="1" dirty="0"/>
              <a:t> Market: </a:t>
            </a:r>
            <a:r>
              <a:rPr lang="en-US" sz="1200" dirty="0"/>
              <a:t>Consumers in India’s metro cities are increasingly opting for supermarket chains and online grocery shopping, which helps companies generate more revenue.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q"/>
            </a:pPr>
            <a:r>
              <a:rPr lang="en-US" sz="1200" b="1" dirty="0"/>
              <a:t>Rural Consumption</a:t>
            </a:r>
            <a:r>
              <a:rPr lang="en-US" sz="1200" dirty="0"/>
              <a:t>: Due to low penetration levels and rising disposable income in rural India, FMCG companies have enormous growth potential in this sector.</a:t>
            </a:r>
          </a:p>
          <a:p>
            <a:pPr marL="171450" indent="-171450">
              <a:spcBef>
                <a:spcPts val="200"/>
              </a:spcBef>
              <a:spcAft>
                <a:spcPts val="200"/>
              </a:spcAft>
              <a:buFont typeface="Wingdings" pitchFamily="2" charset="2"/>
              <a:buChar char="q"/>
            </a:pPr>
            <a:r>
              <a:rPr lang="en-US" sz="1200" b="1" dirty="0"/>
              <a:t>Easy Access</a:t>
            </a:r>
            <a:r>
              <a:rPr lang="en-US" sz="1200" dirty="0"/>
              <a:t>: The accessibility of e-commerce across the country, whether in rural or metropolitan areas, has resulted in a noticeable shift in demand.</a:t>
            </a:r>
          </a:p>
        </p:txBody>
      </p:sp>
    </p:spTree>
    <p:extLst>
      <p:ext uri="{BB962C8B-B14F-4D97-AF65-F5344CB8AC3E}">
        <p14:creationId xmlns:p14="http://schemas.microsoft.com/office/powerpoint/2010/main" xmlns="" val="3537180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776" y="64008"/>
            <a:ext cx="7516368" cy="704088"/>
          </a:xfrm>
        </p:spPr>
        <p:txBody>
          <a:bodyPr/>
          <a:lstStyle/>
          <a:p>
            <a:r>
              <a:rPr lang="en-US" dirty="0"/>
              <a:t>FMCG SWOT Analysis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lIns="83969" tIns="41985" rIns="83969" bIns="41985"/>
          <a:lstStyle/>
          <a:p>
            <a:pPr>
              <a:defRPr/>
            </a:pPr>
            <a:fld id="{3DF0A6CD-C252-4C3D-881A-E42768F8F7FE}" type="slidenum">
              <a:rPr lang="zh-SG" altLang="en-US" smtClean="0"/>
              <a:pPr>
                <a:defRPr/>
              </a:pPr>
              <a:t>3</a:t>
            </a:fld>
            <a:r>
              <a:rPr lang="en-US" altLang="zh-SG" dirty="0"/>
              <a:t/>
            </a:r>
            <a:br>
              <a:rPr lang="en-US" altLang="zh-SG" dirty="0"/>
            </a:br>
            <a:endParaRPr lang="en-US" altLang="zh-SG" sz="800" dirty="0"/>
          </a:p>
        </p:txBody>
      </p:sp>
      <p:sp>
        <p:nvSpPr>
          <p:cNvPr id="6" name="Text Placeholder 3"/>
          <p:cNvSpPr txBox="1">
            <a:spLocks/>
          </p:cNvSpPr>
          <p:nvPr/>
        </p:nvSpPr>
        <p:spPr bwMode="gray">
          <a:xfrm>
            <a:off x="533400" y="1200047"/>
            <a:ext cx="4297680" cy="2148841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0" indent="0" algn="l" defTabSz="914400" rtl="0" eaLnBrk="1" latinLnBrk="0" hangingPunct="1">
              <a:spcBef>
                <a:spcPts val="800"/>
              </a:spcBef>
              <a:spcAft>
                <a:spcPts val="900"/>
              </a:spcAft>
              <a:buFont typeface="Arial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5425" indent="-225425" algn="l" defTabSz="914400" rtl="0" eaLnBrk="1" latinLnBrk="0" hangingPunct="1">
              <a:spcBef>
                <a:spcPts val="400"/>
              </a:spcBef>
              <a:spcAft>
                <a:spcPts val="400"/>
              </a:spcAft>
              <a:buClrTx/>
              <a:buFont typeface="Wingdings" pitchFamily="2" charset="2"/>
              <a:buChar char="q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3550" indent="-238125" algn="l" defTabSz="914400" rtl="0" eaLnBrk="1" latinLnBrk="0" hangingPunct="1">
              <a:spcBef>
                <a:spcPts val="300"/>
              </a:spcBef>
              <a:spcAft>
                <a:spcPts val="300"/>
              </a:spcAft>
              <a:buClrTx/>
              <a:buFont typeface="Wingdings" pitchFamily="2" charset="2"/>
              <a:buChar char="v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8975" indent="-225425" algn="l" defTabSz="914400" rtl="0" eaLnBrk="1" latinLnBrk="0" hangingPunct="1">
              <a:spcBef>
                <a:spcPts val="200"/>
              </a:spcBef>
              <a:spcAft>
                <a:spcPts val="200"/>
              </a:spcAft>
              <a:buClrTx/>
              <a:buFont typeface="Arial" pitchFamily="34" charset="0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1700" indent="-212725" algn="l" defTabSz="914400" rtl="0" eaLnBrk="1" latinLnBrk="0" hangingPunct="1"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endParaRPr lang="en-US" sz="1100" dirty="0"/>
          </a:p>
        </p:txBody>
      </p:sp>
      <p:sp>
        <p:nvSpPr>
          <p:cNvPr id="7" name="Title 1"/>
          <p:cNvSpPr txBox="1">
            <a:spLocks/>
          </p:cNvSpPr>
          <p:nvPr/>
        </p:nvSpPr>
        <p:spPr bwMode="gray">
          <a:xfrm>
            <a:off x="547048" y="925728"/>
            <a:ext cx="4297680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45720" tIns="45720" rIns="45720" bIns="45720" rtlCol="0" anchor="ctr" anchorCtr="0">
            <a:noAutofit/>
          </a:bodyPr>
          <a:lstStyle>
            <a:lvl1pPr algn="l" defTabSz="914400" rtl="0" eaLnBrk="1" latinLnBrk="0" hangingPunct="1">
              <a:lnSpc>
                <a:spcPts val="2200"/>
              </a:lnSpc>
              <a:spcBef>
                <a:spcPct val="0"/>
              </a:spcBef>
              <a:buNone/>
              <a:defRPr sz="2400" b="1" kern="1200">
                <a:solidFill>
                  <a:srgbClr val="1F497D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/>
              <a:t>Strength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 bwMode="gray">
          <a:xfrm>
            <a:off x="5119048" y="925728"/>
            <a:ext cx="4297680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45720" tIns="45720" rIns="45720" bIns="45720" rtlCol="0" anchor="ctr" anchorCtr="0">
            <a:noAutofit/>
          </a:bodyPr>
          <a:lstStyle>
            <a:lvl1pPr algn="l" defTabSz="914400" rtl="0" eaLnBrk="1" latinLnBrk="0" hangingPunct="1">
              <a:lnSpc>
                <a:spcPts val="2200"/>
              </a:lnSpc>
              <a:spcBef>
                <a:spcPct val="0"/>
              </a:spcBef>
              <a:buNone/>
              <a:defRPr sz="2400" b="1" kern="1200">
                <a:solidFill>
                  <a:srgbClr val="1F497D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/>
              <a:t>Weakness</a:t>
            </a:r>
          </a:p>
        </p:txBody>
      </p:sp>
      <p:sp>
        <p:nvSpPr>
          <p:cNvPr id="11" name="Title 1"/>
          <p:cNvSpPr txBox="1">
            <a:spLocks/>
          </p:cNvSpPr>
          <p:nvPr/>
        </p:nvSpPr>
        <p:spPr bwMode="gray">
          <a:xfrm>
            <a:off x="547048" y="3825764"/>
            <a:ext cx="4297680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45720" tIns="45720" rIns="45720" bIns="45720" rtlCol="0" anchor="ctr" anchorCtr="0">
            <a:noAutofit/>
          </a:bodyPr>
          <a:lstStyle>
            <a:lvl1pPr algn="l" defTabSz="914400" rtl="0" eaLnBrk="1" latinLnBrk="0" hangingPunct="1">
              <a:lnSpc>
                <a:spcPts val="2200"/>
              </a:lnSpc>
              <a:spcBef>
                <a:spcPct val="0"/>
              </a:spcBef>
              <a:buNone/>
              <a:defRPr sz="2400" b="1" kern="1200">
                <a:solidFill>
                  <a:srgbClr val="1F497D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/>
              <a:t>Opportunity</a:t>
            </a:r>
          </a:p>
        </p:txBody>
      </p:sp>
      <p:sp>
        <p:nvSpPr>
          <p:cNvPr id="14" name="Text Placeholder 3"/>
          <p:cNvSpPr txBox="1">
            <a:spLocks/>
          </p:cNvSpPr>
          <p:nvPr/>
        </p:nvSpPr>
        <p:spPr bwMode="gray">
          <a:xfrm>
            <a:off x="547048" y="4189723"/>
            <a:ext cx="4297680" cy="1723862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0" indent="0" algn="l" defTabSz="914400" rtl="0" eaLnBrk="1" latinLnBrk="0" hangingPunct="1">
              <a:spcBef>
                <a:spcPts val="800"/>
              </a:spcBef>
              <a:spcAft>
                <a:spcPts val="900"/>
              </a:spcAft>
              <a:buFont typeface="Arial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5425" indent="-225425" algn="l" defTabSz="914400" rtl="0" eaLnBrk="1" latinLnBrk="0" hangingPunct="1">
              <a:spcBef>
                <a:spcPts val="400"/>
              </a:spcBef>
              <a:spcAft>
                <a:spcPts val="400"/>
              </a:spcAft>
              <a:buClrTx/>
              <a:buFont typeface="Wingdings" pitchFamily="2" charset="2"/>
              <a:buChar char="q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3550" indent="-238125" algn="l" defTabSz="914400" rtl="0" eaLnBrk="1" latinLnBrk="0" hangingPunct="1">
              <a:spcBef>
                <a:spcPts val="300"/>
              </a:spcBef>
              <a:spcAft>
                <a:spcPts val="300"/>
              </a:spcAft>
              <a:buClrTx/>
              <a:buFont typeface="Wingdings" pitchFamily="2" charset="2"/>
              <a:buChar char="v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8975" indent="-225425" algn="l" defTabSz="914400" rtl="0" eaLnBrk="1" latinLnBrk="0" hangingPunct="1">
              <a:spcBef>
                <a:spcPts val="200"/>
              </a:spcBef>
              <a:spcAft>
                <a:spcPts val="200"/>
              </a:spcAft>
              <a:buClrTx/>
              <a:buFont typeface="Arial" pitchFamily="34" charset="0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1700" indent="-212725" algn="l" defTabSz="914400" rtl="0" eaLnBrk="1" latinLnBrk="0" hangingPunct="1"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1100" b="1" dirty="0"/>
              <a:t>Digital Transformation</a:t>
            </a:r>
            <a:r>
              <a:rPr lang="en-US" sz="1100" dirty="0"/>
              <a:t>: The rise of e-commerce is reshaping the FMCG landscape, with online sales projected to constitute 15% of total FMCG sales by 2025, up from 8% in 2023.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1100" b="1" dirty="0" smtClean="0"/>
              <a:t> </a:t>
            </a:r>
            <a:r>
              <a:rPr lang="en-US" sz="1100" b="1" dirty="0"/>
              <a:t>Rural Market Expansion</a:t>
            </a:r>
            <a:r>
              <a:rPr lang="en-US" sz="1100" dirty="0"/>
              <a:t>: Government initiatives and infrastructural developments are enhancing rural purchasing power, presenting avenues for market penetration and growth.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1100" b="1" dirty="0" smtClean="0"/>
              <a:t>Product </a:t>
            </a:r>
            <a:r>
              <a:rPr lang="en-US" sz="1100" b="1" dirty="0"/>
              <a:t>Innovation and </a:t>
            </a:r>
            <a:r>
              <a:rPr lang="en-US" sz="1100" b="1" dirty="0" err="1"/>
              <a:t>Premiumization</a:t>
            </a:r>
            <a:r>
              <a:rPr lang="en-US" sz="1100" b="1" dirty="0"/>
              <a:t>:</a:t>
            </a:r>
            <a:r>
              <a:rPr lang="en-US" sz="1100" dirty="0"/>
              <a:t> Evolving consumer preferences towards health and wellness products offer opportunities for companies to diversify offerings and tap into premium segments.</a:t>
            </a:r>
          </a:p>
          <a:p>
            <a:pPr lvl="1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endParaRPr lang="en-US" sz="1100" dirty="0"/>
          </a:p>
        </p:txBody>
      </p:sp>
      <p:sp>
        <p:nvSpPr>
          <p:cNvPr id="15" name="Title 1"/>
          <p:cNvSpPr txBox="1">
            <a:spLocks/>
          </p:cNvSpPr>
          <p:nvPr/>
        </p:nvSpPr>
        <p:spPr bwMode="gray">
          <a:xfrm>
            <a:off x="5119048" y="3825764"/>
            <a:ext cx="4297680" cy="274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45720" tIns="45720" rIns="45720" bIns="45720" rtlCol="0" anchor="ctr" anchorCtr="0">
            <a:noAutofit/>
          </a:bodyPr>
          <a:lstStyle>
            <a:lvl1pPr algn="l" defTabSz="914400" rtl="0" eaLnBrk="1" latinLnBrk="0" hangingPunct="1">
              <a:lnSpc>
                <a:spcPts val="2200"/>
              </a:lnSpc>
              <a:spcBef>
                <a:spcPct val="0"/>
              </a:spcBef>
              <a:buNone/>
              <a:defRPr sz="2400" b="1" kern="1200">
                <a:solidFill>
                  <a:srgbClr val="1F497D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600" dirty="0"/>
              <a:t>Threats</a:t>
            </a:r>
          </a:p>
        </p:txBody>
      </p:sp>
      <p:sp>
        <p:nvSpPr>
          <p:cNvPr id="16" name="Text Placeholder 3"/>
          <p:cNvSpPr txBox="1">
            <a:spLocks/>
          </p:cNvSpPr>
          <p:nvPr/>
        </p:nvSpPr>
        <p:spPr bwMode="gray">
          <a:xfrm>
            <a:off x="5133718" y="4122290"/>
            <a:ext cx="4297680" cy="2016321"/>
          </a:xfrm>
          <a:prstGeom prst="rect">
            <a:avLst/>
          </a:prstGeom>
        </p:spPr>
        <p:txBody>
          <a:bodyPr vert="horz" lIns="45720" tIns="45720" rIns="45720" bIns="45720" rtlCol="0">
            <a:noAutofit/>
          </a:bodyPr>
          <a:lstStyle>
            <a:lvl1pPr marL="0" indent="0" algn="l" defTabSz="914400" rtl="0" eaLnBrk="1" latinLnBrk="0" hangingPunct="1">
              <a:spcBef>
                <a:spcPts val="800"/>
              </a:spcBef>
              <a:spcAft>
                <a:spcPts val="900"/>
              </a:spcAft>
              <a:buFont typeface="Arial" pitchFamily="34" charset="0"/>
              <a:buNone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5425" indent="-225425" algn="l" defTabSz="914400" rtl="0" eaLnBrk="1" latinLnBrk="0" hangingPunct="1">
              <a:spcBef>
                <a:spcPts val="400"/>
              </a:spcBef>
              <a:spcAft>
                <a:spcPts val="400"/>
              </a:spcAft>
              <a:buClrTx/>
              <a:buFont typeface="Wingdings" pitchFamily="2" charset="2"/>
              <a:buChar char="q"/>
              <a:defRPr sz="1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63550" indent="-238125" algn="l" defTabSz="914400" rtl="0" eaLnBrk="1" latinLnBrk="0" hangingPunct="1">
              <a:spcBef>
                <a:spcPts val="300"/>
              </a:spcBef>
              <a:spcAft>
                <a:spcPts val="300"/>
              </a:spcAft>
              <a:buClrTx/>
              <a:buFont typeface="Wingdings" pitchFamily="2" charset="2"/>
              <a:buChar char="v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88975" indent="-225425" algn="l" defTabSz="914400" rtl="0" eaLnBrk="1" latinLnBrk="0" hangingPunct="1">
              <a:spcBef>
                <a:spcPts val="200"/>
              </a:spcBef>
              <a:spcAft>
                <a:spcPts val="200"/>
              </a:spcAft>
              <a:buClrTx/>
              <a:buFont typeface="Arial" pitchFamily="34" charset="0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1700" indent="-212725" algn="l" defTabSz="914400" rtl="0" eaLnBrk="1" latinLnBrk="0" hangingPunct="1">
              <a:spcBef>
                <a:spcPts val="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Wingdings" pitchFamily="2" charset="2"/>
              <a:buChar char="§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1100" dirty="0"/>
              <a:t> </a:t>
            </a:r>
            <a:r>
              <a:rPr lang="en-US" sz="1100" b="1" dirty="0"/>
              <a:t>Economic Uncertainties</a:t>
            </a:r>
            <a:r>
              <a:rPr lang="en-US" sz="1100" dirty="0"/>
              <a:t>: Stagnant wages and employment challenges can dampen consumer spending, affecting overall demand in the FMCG sector.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1100" b="1" dirty="0"/>
              <a:t>Supply Chain Disruptions</a:t>
            </a:r>
            <a:r>
              <a:rPr lang="en-US" sz="1100" dirty="0"/>
              <a:t>: Global events, such as pandemics or geopolitical tensions, can disrupt supply chains, leading to inventory shortages and increased operational costs.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1100" dirty="0"/>
              <a:t> </a:t>
            </a:r>
            <a:r>
              <a:rPr lang="en-US" sz="1100" b="1" dirty="0"/>
              <a:t>Shifting Consumer Preferences</a:t>
            </a:r>
            <a:r>
              <a:rPr lang="en-US" sz="1100" dirty="0"/>
              <a:t>: A growing inclination towards local or unbranded products, driven by price sensitivity or nationalist sentiments, can impact the market share of established FMCG brands.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7048" y="1219199"/>
            <a:ext cx="4177352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Bef>
                <a:spcPts val="200"/>
              </a:spcBef>
              <a:spcAft>
                <a:spcPts val="100"/>
              </a:spcAft>
              <a:buFont typeface="Wingdings" pitchFamily="2" charset="2"/>
              <a:buChar char="q"/>
            </a:pPr>
            <a:r>
              <a:rPr lang="en-US" sz="1200" b="1" dirty="0"/>
              <a:t>Robust Market Growth</a:t>
            </a:r>
            <a:r>
              <a:rPr lang="en-US" sz="1200" dirty="0"/>
              <a:t>: The Indian FMCG market has demonstrated significant expansion, with projections indicating a compound annual growth rate (CAGR) of 27.9%, reaching approximately USD 615.87 billion by 2027</a:t>
            </a:r>
            <a:r>
              <a:rPr lang="en-US" sz="1200" dirty="0" smtClean="0"/>
              <a:t>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200" dirty="0"/>
          </a:p>
          <a:p>
            <a:pPr marL="171450" indent="-171450">
              <a:spcBef>
                <a:spcPts val="200"/>
              </a:spcBef>
              <a:spcAft>
                <a:spcPts val="100"/>
              </a:spcAft>
              <a:buFont typeface="Wingdings" pitchFamily="2" charset="2"/>
              <a:buChar char="q"/>
            </a:pPr>
            <a:r>
              <a:rPr lang="en-US" sz="1200" dirty="0"/>
              <a:t> </a:t>
            </a:r>
            <a:r>
              <a:rPr lang="en-US" sz="1200" b="1" dirty="0"/>
              <a:t>Diverse Product Portfolio</a:t>
            </a:r>
            <a:r>
              <a:rPr lang="en-US" sz="1200" dirty="0"/>
              <a:t>: The sector encompasses a wide array of products, including food and beverages, personal care, and household items, catering to the varied preferences of a vast consumer base</a:t>
            </a:r>
            <a:r>
              <a:rPr lang="en-US" sz="1200" dirty="0" smtClean="0"/>
              <a:t>.</a:t>
            </a:r>
          </a:p>
          <a:p>
            <a:pPr>
              <a:spcBef>
                <a:spcPts val="200"/>
              </a:spcBef>
              <a:spcAft>
                <a:spcPts val="100"/>
              </a:spcAft>
            </a:pPr>
            <a:endParaRPr lang="en-US" sz="1200" dirty="0"/>
          </a:p>
          <a:p>
            <a:pPr marL="171450" indent="-171450">
              <a:spcBef>
                <a:spcPts val="200"/>
              </a:spcBef>
              <a:spcAft>
                <a:spcPts val="100"/>
              </a:spcAft>
              <a:buFont typeface="Wingdings" pitchFamily="2" charset="2"/>
              <a:buChar char="q"/>
            </a:pPr>
            <a:r>
              <a:rPr lang="en-US" sz="1200" b="1" dirty="0"/>
              <a:t>Strong Distribution Networks</a:t>
            </a:r>
            <a:r>
              <a:rPr lang="en-US" sz="1200" dirty="0"/>
              <a:t>: Established supply chains facilitate extensive reach across urban and rural markets, ensuring product availability and fostering consumer trust.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xmlns="" id="{CC733A35-EB28-4A3A-8F3F-99C3C4149576}"/>
              </a:ext>
            </a:extLst>
          </p:cNvPr>
          <p:cNvGrpSpPr/>
          <p:nvPr/>
        </p:nvGrpSpPr>
        <p:grpSpPr>
          <a:xfrm>
            <a:off x="9279044" y="6932581"/>
            <a:ext cx="8280" cy="17842"/>
            <a:chOff x="9279044" y="6932581"/>
            <a:chExt cx="8280" cy="17842"/>
          </a:xfrm>
        </p:grpSpPr>
        <mc:AlternateContent xmlns:mc="http://schemas.openxmlformats.org/markup-compatibility/2006">
          <mc:Choice xmlns:p14="http://schemas.microsoft.com/office/powerpoint/2010/main" xmlns="" Requires="p14">
            <p:contentPart p14:bwMode="auto" r:id="rId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FCCAD36F-F4EF-44F2-8050-C57DC25F1E29}"/>
                    </a:ext>
                  </a:extLst>
                </p14:cNvPr>
                <p14:cNvContentPartPr/>
                <p14:nvPr/>
              </p14:nvContentPartPr>
              <p14:xfrm>
                <a:off x="9280484" y="6945023"/>
                <a:ext cx="6840" cy="54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FCCAD36F-F4EF-44F2-8050-C57DC25F1E2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271484" y="6936023"/>
                  <a:ext cx="2448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="" Requires="p14">
            <p:contentPart p14:bwMode="auto" r:id="rId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FD8169F-6C96-4543-9074-C180932371F1}"/>
                    </a:ext>
                  </a:extLst>
                </p14:cNvPr>
                <p14:cNvContentPartPr/>
                <p14:nvPr/>
              </p14:nvContentPartPr>
              <p14:xfrm>
                <a:off x="9279044" y="6932581"/>
                <a:ext cx="360" cy="3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xmlns="" xmlns:p14="http://schemas.microsoft.com/office/powerpoint/2010/main" id="{7FD8169F-6C96-4543-9074-C180932371F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270404" y="6923941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xmlns="" Requires="p14">
          <p:contentPart p14:bwMode="auto" r:id="rId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BA5DB0E1-6E31-4AAE-AD13-B8B11F5DCD46}"/>
                  </a:ext>
                </a:extLst>
              </p14:cNvPr>
              <p14:cNvContentPartPr/>
              <p14:nvPr/>
            </p14:nvContentPartPr>
            <p14:xfrm>
              <a:off x="278140" y="3692933"/>
              <a:ext cx="360" cy="36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BA5DB0E1-6E31-4AAE-AD13-B8B11F5DCD4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69500" y="368393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9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51995FF0-0A86-4724-B94B-18177A6B495B}"/>
                  </a:ext>
                </a:extLst>
              </p14:cNvPr>
              <p14:cNvContentPartPr/>
              <p14:nvPr/>
            </p14:nvContentPartPr>
            <p14:xfrm>
              <a:off x="3339220" y="1730213"/>
              <a:ext cx="360" cy="36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51995FF0-0A86-4724-B94B-18177A6B495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330220" y="172121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10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72FAAE0D-73C1-49B5-8EAA-90A8041D78B3}"/>
                  </a:ext>
                </a:extLst>
              </p14:cNvPr>
              <p14:cNvContentPartPr/>
              <p14:nvPr/>
            </p14:nvContentPartPr>
            <p14:xfrm>
              <a:off x="6896738" y="4822065"/>
              <a:ext cx="4320" cy="28440"/>
            </p14:xfrm>
          </p:contentPart>
        </mc:Choice>
        <mc:Fallback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72FAAE0D-73C1-49B5-8EAA-90A8041D78B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887738" y="4813065"/>
                <a:ext cx="2196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14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14591935-5F25-490F-BD81-CA3BCB9492D1}"/>
                  </a:ext>
                </a:extLst>
              </p14:cNvPr>
              <p14:cNvContentPartPr/>
              <p14:nvPr/>
            </p14:nvContentPartPr>
            <p14:xfrm>
              <a:off x="6451058" y="5210145"/>
              <a:ext cx="2520" cy="2160"/>
            </p14:xfrm>
          </p:contentPart>
        </mc:Choice>
        <mc:Fallback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14591935-5F25-490F-BD81-CA3BCB9492D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442418" y="5201505"/>
                <a:ext cx="2016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="" Requires="p14">
          <p:contentPart p14:bwMode="auto" r:id="rId16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351B7585-C2FD-4D99-AB71-37AD04B76166}"/>
                  </a:ext>
                </a:extLst>
              </p14:cNvPr>
              <p14:cNvContentPartPr/>
              <p14:nvPr/>
            </p14:nvContentPartPr>
            <p14:xfrm flipH="1">
              <a:off x="6094299" y="5913584"/>
              <a:ext cx="45719" cy="45719"/>
            </p14:xfrm>
          </p:contentPart>
        </mc:Choice>
        <mc:Fallback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xmlns="" xmlns:p14="http://schemas.microsoft.com/office/powerpoint/2010/main" id="{351B7585-C2FD-4D99-AB71-37AD04B7616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 flipH="1">
                <a:off x="6084758" y="5904059"/>
                <a:ext cx="65199" cy="64388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5ADAE76F-611D-4F67-9946-FBB4FD6B85E0}"/>
              </a:ext>
            </a:extLst>
          </p:cNvPr>
          <p:cNvSpPr txBox="1"/>
          <p:nvPr/>
        </p:nvSpPr>
        <p:spPr>
          <a:xfrm>
            <a:off x="5099628" y="1331233"/>
            <a:ext cx="4284032" cy="2200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spcBef>
                <a:spcPts val="200"/>
              </a:spcBef>
              <a:spcAft>
                <a:spcPts val="100"/>
              </a:spcAft>
              <a:buFont typeface="Wingdings" pitchFamily="2" charset="2"/>
              <a:buChar char="q"/>
            </a:pPr>
            <a:r>
              <a:rPr lang="en-US" sz="1200" b="1" dirty="0"/>
              <a:t> Inflationary Pressures</a:t>
            </a:r>
            <a:r>
              <a:rPr lang="en-US" sz="1200" dirty="0"/>
              <a:t>: Persistent inflation, particularly in food prices, has constrained consumer spending, notably among the middle class, leading to a slowdown in urban consumption growth</a:t>
            </a:r>
            <a:r>
              <a:rPr lang="en-US" sz="1200" dirty="0" smtClean="0"/>
              <a:t>.</a:t>
            </a:r>
            <a:endParaRPr lang="en-US" sz="1200" dirty="0"/>
          </a:p>
          <a:p>
            <a:pPr marL="171450" indent="-171450">
              <a:spcBef>
                <a:spcPts val="200"/>
              </a:spcBef>
              <a:spcAft>
                <a:spcPts val="100"/>
              </a:spcAft>
              <a:buFont typeface="Wingdings" pitchFamily="2" charset="2"/>
              <a:buChar char="q"/>
            </a:pPr>
            <a:r>
              <a:rPr lang="en-US" sz="1200" b="1" dirty="0" smtClean="0"/>
              <a:t> </a:t>
            </a:r>
            <a:r>
              <a:rPr lang="en-US" sz="1200" b="1" dirty="0"/>
              <a:t>Regulatory Challenges</a:t>
            </a:r>
            <a:r>
              <a:rPr lang="en-US" sz="1200" dirty="0"/>
              <a:t>: The industry faces complex regulatory environments, including compliance with diverse state and central policies, which can impede operational efficiency</a:t>
            </a:r>
            <a:r>
              <a:rPr lang="en-US" sz="1200" dirty="0" smtClean="0"/>
              <a:t>.</a:t>
            </a:r>
            <a:endParaRPr lang="en-US" sz="1200" dirty="0"/>
          </a:p>
          <a:p>
            <a:pPr marL="171450" indent="-171450">
              <a:spcBef>
                <a:spcPts val="200"/>
              </a:spcBef>
              <a:spcAft>
                <a:spcPts val="100"/>
              </a:spcAft>
              <a:buFont typeface="Wingdings" pitchFamily="2" charset="2"/>
              <a:buChar char="q"/>
            </a:pPr>
            <a:r>
              <a:rPr lang="en-US" sz="1200" b="1" dirty="0" smtClean="0"/>
              <a:t>Dependence </a:t>
            </a:r>
            <a:r>
              <a:rPr lang="en-US" sz="1200" b="1" dirty="0"/>
              <a:t>on Rural Demand</a:t>
            </a:r>
            <a:r>
              <a:rPr lang="en-US" sz="1200" dirty="0"/>
              <a:t>: While rural markets offer growth potential, reliance on these areas exposes companies to vulnerabilities related to agricultural performance and monsoon variability.,</a:t>
            </a:r>
          </a:p>
        </p:txBody>
      </p:sp>
    </p:spTree>
    <p:extLst>
      <p:ext uri="{BB962C8B-B14F-4D97-AF65-F5344CB8AC3E}">
        <p14:creationId xmlns:p14="http://schemas.microsoft.com/office/powerpoint/2010/main" xmlns="" val="3874533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776" y="64008"/>
            <a:ext cx="7516368" cy="704088"/>
          </a:xfrm>
        </p:spPr>
        <p:txBody>
          <a:bodyPr/>
          <a:lstStyle/>
          <a:p>
            <a:r>
              <a:rPr lang="en-US" dirty="0"/>
              <a:t>Competitive Benchmarking / Landscape – Financials / Valuation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lIns="83969" tIns="41985" rIns="83969" bIns="41985"/>
          <a:lstStyle/>
          <a:p>
            <a:pPr>
              <a:defRPr/>
            </a:pPr>
            <a:fld id="{3DF0A6CD-C252-4C3D-881A-E42768F8F7FE}" type="slidenum">
              <a:rPr lang="zh-SG" altLang="en-US" smtClean="0"/>
              <a:pPr>
                <a:defRPr/>
              </a:pPr>
              <a:t>4</a:t>
            </a:fld>
            <a:r>
              <a:rPr lang="en-US" altLang="zh-SG" dirty="0"/>
              <a:t/>
            </a:r>
            <a:br>
              <a:rPr lang="en-US" altLang="zh-SG" dirty="0"/>
            </a:br>
            <a:endParaRPr lang="en-US" altLang="zh-SG" sz="8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300628912"/>
              </p:ext>
            </p:extLst>
          </p:nvPr>
        </p:nvGraphicFramePr>
        <p:xfrm>
          <a:off x="493776" y="990167"/>
          <a:ext cx="8802626" cy="49652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751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257518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5751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25751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5751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257518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1257518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</a:tblGrid>
              <a:tr h="439937"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200" b="1" dirty="0" smtClean="0"/>
                        <a:t>HUL</a:t>
                      </a:r>
                      <a:endParaRPr 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 dirty="0" smtClean="0">
                          <a:effectLst/>
                          <a:latin typeface="Arial"/>
                        </a:rPr>
                        <a:t>ITC</a:t>
                      </a:r>
                      <a:endParaRPr lang="en-US" sz="1200" b="1" i="0" u="none" strike="noStrike" dirty="0">
                        <a:effectLst/>
                        <a:latin typeface="Arial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 smtClean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Tata consumer products</a:t>
                      </a:r>
                      <a:endParaRPr lang="en-US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b="1" dirty="0" smtClean="0"/>
                        <a:t>Marico Limited</a:t>
                      </a:r>
                    </a:p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b="1" i="0" u="none" strike="noStrike" dirty="0">
                        <a:effectLst/>
                        <a:latin typeface="Arial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 dirty="0" smtClean="0">
                          <a:effectLst/>
                          <a:latin typeface="Arial"/>
                        </a:rPr>
                        <a:t>Nestle India Ltd.</a:t>
                      </a:r>
                      <a:endParaRPr lang="en-US" sz="1200" b="1" i="0" u="none" strike="noStrike" dirty="0">
                        <a:effectLst/>
                        <a:latin typeface="Arial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0" u="none" strike="noStrike" kern="1200" dirty="0" smtClean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Britannia Industries Ltd.</a:t>
                      </a:r>
                      <a:endParaRPr lang="en-US" sz="1200" b="1" i="0" u="none" strike="noStrike" dirty="0">
                        <a:effectLst/>
                        <a:latin typeface="Arial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39937"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/>
                        <a:t>Ent Value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6,02,554.38 Cr.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5,13,261.40 Cr.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1,07,482.33 Cr.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95,259.91 Cr.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2,34,762.63 Cr.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1,53,349.30 Cr.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39937">
                <a:tc>
                  <a:txBody>
                    <a:bodyPr/>
                    <a:lstStyle/>
                    <a:p>
                      <a:pPr algn="ctr"/>
                      <a:r>
                        <a:rPr lang="en-US" sz="1200" b="1" u="none" dirty="0"/>
                        <a:t>M Cap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 6,07,134.38 Cr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5,18,102.78 Cr.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1,09,096.45 Cr.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95,540.91 Cr.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2,34,762.63 Cr.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1,50,566.77 Cr.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64384">
                <a:tc gridSpan="7"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Profitability</a:t>
                      </a:r>
                    </a:p>
                  </a:txBody>
                  <a:tcPr anchor="ctr" anchorCtr="1"/>
                </a:tc>
                <a:tc hMerge="1">
                  <a:txBody>
                    <a:bodyPr/>
                    <a:lstStyle/>
                    <a:p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 hMerge="1">
                  <a:txBody>
                    <a:bodyPr/>
                    <a:lstStyle/>
                    <a:p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 hMerge="1">
                  <a:txBody>
                    <a:bodyPr/>
                    <a:lstStyle/>
                    <a:p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 hMerge="1">
                  <a:txBody>
                    <a:bodyPr/>
                    <a:lstStyle/>
                    <a:p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 hMerge="1">
                  <a:txBody>
                    <a:bodyPr/>
                    <a:lstStyle/>
                    <a:p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 hMerge="1">
                  <a:txBody>
                    <a:bodyPr/>
                    <a:lstStyle/>
                    <a:p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xmlns="" val="2435787256"/>
                  </a:ext>
                </a:extLst>
              </a:tr>
              <a:tr h="439937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Gross Margins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49.51%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32.30%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15.16%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21.66%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23.81%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19.02%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39937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Net Margin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16.91%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46.12%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7.83%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15.30%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23.81%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12.19%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3993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Return on Equity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21.55%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49.61%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6.39%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40.99%</a:t>
                      </a:r>
                      <a:endParaRPr lang="en-US" sz="1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79.98%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50.01%</a:t>
                      </a: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439937">
                <a:tc>
                  <a:txBody>
                    <a:bodyPr/>
                    <a:lstStyle/>
                    <a:p>
                      <a:pPr algn="ctr"/>
                      <a:r>
                        <a:rPr lang="en-US" sz="1200" b="1" u="sng" dirty="0"/>
                        <a:t>RoCE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22.91%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38.30%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7.92%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36.90%</a:t>
                      </a:r>
                      <a:endParaRPr lang="en-US" sz="1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57.17%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59.40%</a:t>
                      </a:r>
                      <a:endParaRPr kumimoji="0" lang="en-US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64384">
                <a:tc gridSpan="7"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Valuation</a:t>
                      </a:r>
                    </a:p>
                  </a:txBody>
                  <a:tcPr anchor="ctr" anchorCtr="1"/>
                </a:tc>
                <a:tc hMerge="1">
                  <a:txBody>
                    <a:bodyPr/>
                    <a:lstStyle/>
                    <a:p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 hMerge="1">
                  <a:txBody>
                    <a:bodyPr/>
                    <a:lstStyle/>
                    <a:p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 hMerge="1">
                  <a:txBody>
                    <a:bodyPr/>
                    <a:lstStyle/>
                    <a:p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 hMerge="1">
                  <a:txBody>
                    <a:bodyPr/>
                    <a:lstStyle/>
                    <a:p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 hMerge="1">
                  <a:txBody>
                    <a:bodyPr/>
                    <a:lstStyle/>
                    <a:p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 hMerge="1">
                  <a:txBody>
                    <a:bodyPr/>
                    <a:lstStyle/>
                    <a:p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xmlns="" val="4227577619"/>
                  </a:ext>
                </a:extLst>
              </a:tr>
              <a:tr h="439937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EV/ Sales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8.29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6.76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5.57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7.72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10.78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6.68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439937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/>
                        <a:t>EV / EBITDA</a:t>
                      </a: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37.93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17.73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41.38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39.64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200" b="1" kern="1200" dirty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49.40</a:t>
                      </a:r>
                      <a:endParaRPr lang="en-US" sz="12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44.26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xmlns="" val="767244010"/>
                  </a:ext>
                </a:extLst>
              </a:tr>
              <a:tr h="439937"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 smtClean="0"/>
                        <a:t>P/E</a:t>
                      </a:r>
                      <a:endParaRPr lang="en-US" sz="1200" b="1" dirty="0"/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56.24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14.85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82.51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57.24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75.55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tc>
                  <a:txBody>
                    <a:bodyPr/>
                    <a:lstStyle/>
                    <a:p>
                      <a:r>
                        <a:rPr lang="en-US" sz="1200" b="1" dirty="0" smtClean="0">
                          <a:solidFill>
                            <a:schemeClr val="tx1"/>
                          </a:solidFill>
                        </a:rPr>
                        <a:t>68.63</a:t>
                      </a:r>
                      <a:endParaRPr 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 anchorCtr="1"/>
                </a:tc>
                <a:extLst>
                  <a:ext uri="{0D108BD9-81ED-4DB2-BD59-A6C34878D82A}">
                    <a16:rowId xmlns:a16="http://schemas.microsoft.com/office/drawing/2014/main" xmlns="" val="3760129776"/>
                  </a:ext>
                </a:extLst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439185" y="6230779"/>
            <a:ext cx="87599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CONFIDENTIAL - DO NOT DISSEMINATE. This business plan contains confidential, trade-secret information and is shared only with the understanding that you will not share its contents or ideas with</a:t>
            </a:r>
          </a:p>
          <a:p>
            <a:r>
              <a:rPr lang="en-US" sz="800" dirty="0"/>
              <a:t>third parties without the express written consent of the plan author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37220068-5587-EE6A-576F-039701B40495}"/>
              </a:ext>
            </a:extLst>
          </p:cNvPr>
          <p:cNvSpPr txBox="1"/>
          <p:nvPr/>
        </p:nvSpPr>
        <p:spPr>
          <a:xfrm>
            <a:off x="469827" y="5985681"/>
            <a:ext cx="87599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Source: Yahoo Finance, Filings</a:t>
            </a:r>
          </a:p>
        </p:txBody>
      </p:sp>
    </p:spTree>
    <p:extLst>
      <p:ext uri="{BB962C8B-B14F-4D97-AF65-F5344CB8AC3E}">
        <p14:creationId xmlns:p14="http://schemas.microsoft.com/office/powerpoint/2010/main" xmlns="" val="1905625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2189"/>
            <a:ext cx="7516368" cy="704088"/>
          </a:xfrm>
        </p:spPr>
        <p:txBody>
          <a:bodyPr/>
          <a:lstStyle/>
          <a:p>
            <a:r>
              <a:rPr lang="en-US" dirty="0" smtClean="0"/>
              <a:t>Sub-Sector Analysis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lIns="83969" tIns="41985" rIns="83969" bIns="41985"/>
          <a:lstStyle/>
          <a:p>
            <a:pPr>
              <a:defRPr/>
            </a:pPr>
            <a:fld id="{3DF0A6CD-C252-4C3D-881A-E42768F8F7FE}" type="slidenum">
              <a:rPr lang="zh-SG" altLang="en-US" smtClean="0"/>
              <a:pPr>
                <a:defRPr/>
              </a:pPr>
              <a:t>5</a:t>
            </a:fld>
            <a:r>
              <a:rPr lang="en-US" altLang="zh-SG" dirty="0"/>
              <a:t/>
            </a:r>
            <a:br>
              <a:rPr lang="en-US" altLang="zh-SG" dirty="0"/>
            </a:br>
            <a:endParaRPr lang="en-US" altLang="zh-SG" sz="800" dirty="0"/>
          </a:p>
        </p:txBody>
      </p:sp>
      <p:sp>
        <p:nvSpPr>
          <p:cNvPr id="25" name="TextBox 24"/>
          <p:cNvSpPr txBox="1"/>
          <p:nvPr/>
        </p:nvSpPr>
        <p:spPr>
          <a:xfrm>
            <a:off x="439185" y="6230779"/>
            <a:ext cx="87599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CONFIDENTIAL - DO NOT DISSEMINATE. This business plan contains confidential, trade-secret information and is shared only with the understanding that you will not share its contents or ideas with</a:t>
            </a:r>
          </a:p>
          <a:p>
            <a:r>
              <a:rPr lang="en-US" sz="800" dirty="0"/>
              <a:t>third parties without the express written consent of the plan author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141625A7-6373-3CF0-2AFD-640503F72064}"/>
              </a:ext>
            </a:extLst>
          </p:cNvPr>
          <p:cNvSpPr txBox="1"/>
          <p:nvPr/>
        </p:nvSpPr>
        <p:spPr>
          <a:xfrm>
            <a:off x="439185" y="5986456"/>
            <a:ext cx="87599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Source: Web search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862692265"/>
              </p:ext>
            </p:extLst>
          </p:nvPr>
        </p:nvGraphicFramePr>
        <p:xfrm>
          <a:off x="152400" y="990600"/>
          <a:ext cx="9601200" cy="4995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2614">
                  <a:extLst>
                    <a:ext uri="{9D8B030D-6E8A-4147-A177-3AD203B41FA5}">
                      <a16:colId xmlns:a16="http://schemas.microsoft.com/office/drawing/2014/main" xmlns="" val="4096517947"/>
                    </a:ext>
                  </a:extLst>
                </a:gridCol>
                <a:gridCol w="1764872">
                  <a:extLst>
                    <a:ext uri="{9D8B030D-6E8A-4147-A177-3AD203B41FA5}">
                      <a16:colId xmlns:a16="http://schemas.microsoft.com/office/drawing/2014/main" xmlns="" val="2947563752"/>
                    </a:ext>
                  </a:extLst>
                </a:gridCol>
                <a:gridCol w="2857411">
                  <a:extLst>
                    <a:ext uri="{9D8B030D-6E8A-4147-A177-3AD203B41FA5}">
                      <a16:colId xmlns:a16="http://schemas.microsoft.com/office/drawing/2014/main" xmlns="" val="1348044054"/>
                    </a:ext>
                  </a:extLst>
                </a:gridCol>
                <a:gridCol w="3086303">
                  <a:extLst>
                    <a:ext uri="{9D8B030D-6E8A-4147-A177-3AD203B41FA5}">
                      <a16:colId xmlns:a16="http://schemas.microsoft.com/office/drawing/2014/main" xmlns="" val="1259717773"/>
                    </a:ext>
                  </a:extLst>
                </a:gridCol>
              </a:tblGrid>
              <a:tr h="300451">
                <a:tc>
                  <a:txBody>
                    <a:bodyPr/>
                    <a:lstStyle/>
                    <a:p>
                      <a:r>
                        <a:rPr lang="en-US" sz="1100" dirty="0">
                          <a:effectLst/>
                        </a:rPr>
                        <a:t>Sub-Sector</a:t>
                      </a:r>
                      <a:endParaRPr lang="en-US" sz="1100" dirty="0">
                        <a:solidFill>
                          <a:srgbClr val="101828"/>
                        </a:solidFill>
                        <a:effectLst/>
                      </a:endParaRPr>
                    </a:p>
                  </a:txBody>
                  <a:tcPr marL="17713" marR="17713" marT="8856" marB="8856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</a:rPr>
                        <a:t>Market Data</a:t>
                      </a:r>
                      <a:endParaRPr lang="en-US" sz="1100">
                        <a:solidFill>
                          <a:srgbClr val="101828"/>
                        </a:solidFill>
                        <a:effectLst/>
                      </a:endParaRPr>
                    </a:p>
                  </a:txBody>
                  <a:tcPr marL="17713" marR="17713" marT="8856" marB="8856" anchor="ctr"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effectLst/>
                        </a:rPr>
                        <a:t>Demand Trends</a:t>
                      </a:r>
                      <a:endParaRPr lang="en-US" sz="1100" dirty="0">
                        <a:solidFill>
                          <a:srgbClr val="101828"/>
                        </a:solidFill>
                        <a:effectLst/>
                      </a:endParaRPr>
                    </a:p>
                  </a:txBody>
                  <a:tcPr marL="17713" marR="17713" marT="8856" marB="8856" anchor="ctr"/>
                </a:tc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</a:rPr>
                        <a:t>Supply Trends</a:t>
                      </a:r>
                      <a:endParaRPr lang="en-US" sz="1100">
                        <a:solidFill>
                          <a:srgbClr val="101828"/>
                        </a:solidFill>
                        <a:effectLst/>
                      </a:endParaRPr>
                    </a:p>
                  </a:txBody>
                  <a:tcPr marL="17713" marR="17713" marT="8856" marB="8856" anchor="ctr"/>
                </a:tc>
                <a:extLst>
                  <a:ext uri="{0D108BD9-81ED-4DB2-BD59-A6C34878D82A}">
                    <a16:rowId xmlns:a16="http://schemas.microsoft.com/office/drawing/2014/main" xmlns="" val="4455221"/>
                  </a:ext>
                </a:extLst>
              </a:tr>
              <a:tr h="1469019">
                <a:tc>
                  <a:txBody>
                    <a:bodyPr/>
                    <a:lstStyle/>
                    <a:p>
                      <a:r>
                        <a:rPr lang="en-US" sz="1100" dirty="0">
                          <a:effectLst/>
                        </a:rPr>
                        <a:t>Household &amp; Personal Care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7713" marR="17713" marT="8856" marB="8856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100" dirty="0">
                          <a:effectLst/>
                        </a:rPr>
                        <a:t>Market Share: 50%</a:t>
                      </a:r>
                    </a:p>
                    <a:p>
                      <a:pPr algn="just"/>
                      <a:r>
                        <a:rPr lang="en-US" sz="1100" dirty="0">
                          <a:effectLst/>
                        </a:rPr>
                        <a:t>Revenue CAGR (10yr): 7%</a:t>
                      </a:r>
                      <a:endParaRPr lang="en-US" sz="11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7713" marR="17713" marT="8856" marB="8856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100" dirty="0">
                          <a:effectLst/>
                        </a:rPr>
                        <a:t>1. Growing demand for budget-friendly options:</a:t>
                      </a:r>
                    </a:p>
                    <a:p>
                      <a:pPr algn="just"/>
                      <a:r>
                        <a:rPr lang="en-US" sz="1100" dirty="0">
                          <a:effectLst/>
                        </a:rPr>
                        <a:t>-Nearly 45% of urban consumers are opting for more affordable brands</a:t>
                      </a:r>
                    </a:p>
                    <a:p>
                      <a:pPr algn="just"/>
                      <a:r>
                        <a:rPr lang="en-US" sz="1100" dirty="0" smtClean="0">
                          <a:effectLst/>
                        </a:rPr>
                        <a:t>2</a:t>
                      </a:r>
                      <a:r>
                        <a:rPr lang="en-US" sz="1100" dirty="0">
                          <a:effectLst/>
                        </a:rPr>
                        <a:t>. Premiumisation &amp; conscious buying:</a:t>
                      </a:r>
                    </a:p>
                    <a:p>
                      <a:pPr algn="just"/>
                      <a:r>
                        <a:rPr lang="en-US" sz="1100" dirty="0">
                          <a:effectLst/>
                        </a:rPr>
                        <a:t>- Consumers are willing to pay more for eco-friendly, pet-safe, antibacterial, and biodegradable home care products.</a:t>
                      </a:r>
                      <a:endParaRPr lang="en-US" sz="11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7713" marR="17713" marT="8856" marB="8856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100" dirty="0">
                          <a:effectLst/>
                        </a:rPr>
                        <a:t>1. Smaller packs catering to rural consumers:</a:t>
                      </a:r>
                    </a:p>
                    <a:p>
                      <a:pPr algn="just"/>
                      <a:r>
                        <a:rPr lang="en-US" sz="1100" dirty="0">
                          <a:effectLst/>
                        </a:rPr>
                        <a:t>- Brands are offering low-cost, smaller packs (like ~`₹10 sachets for cleaners) to make products more affordable and build brand loyalty.</a:t>
                      </a:r>
                    </a:p>
                    <a:p>
                      <a:pPr algn="just"/>
                      <a:r>
                        <a:rPr lang="en-US" sz="1100" dirty="0">
                          <a:effectLst/>
                        </a:rPr>
                        <a:t>2. Premiumisation in skincare &amp; home care:</a:t>
                      </a:r>
                    </a:p>
                    <a:p>
                      <a:pPr algn="just"/>
                      <a:r>
                        <a:rPr lang="en-US" sz="1100" dirty="0">
                          <a:effectLst/>
                        </a:rPr>
                        <a:t>- Premium skincare is growing at 12% CAGR, with a focus on anti-aging, hydration, and skin-brightening products</a:t>
                      </a:r>
                      <a:r>
                        <a:rPr lang="en-US" sz="1100" dirty="0" smtClean="0">
                          <a:effectLst/>
                        </a:rPr>
                        <a:t>.</a:t>
                      </a:r>
                      <a:endParaRPr lang="en-US" sz="11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7713" marR="17713" marT="8856" marB="8856" anchor="ctr"/>
                </a:tc>
                <a:extLst>
                  <a:ext uri="{0D108BD9-81ED-4DB2-BD59-A6C34878D82A}">
                    <a16:rowId xmlns:a16="http://schemas.microsoft.com/office/drawing/2014/main" xmlns="" val="1395051142"/>
                  </a:ext>
                </a:extLst>
              </a:tr>
              <a:tr h="1025396">
                <a:tc>
                  <a:txBody>
                    <a:bodyPr/>
                    <a:lstStyle/>
                    <a:p>
                      <a:r>
                        <a:rPr lang="en-US" sz="1100">
                          <a:effectLst/>
                        </a:rPr>
                        <a:t>Food &amp; Beverages</a:t>
                      </a:r>
                      <a:endParaRPr lang="en-US" sz="110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7713" marR="17713" marT="8856" marB="8856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100" dirty="0">
                          <a:effectLst/>
                        </a:rPr>
                        <a:t>Market Share: 31%</a:t>
                      </a:r>
                    </a:p>
                    <a:p>
                      <a:pPr algn="just"/>
                      <a:r>
                        <a:rPr lang="en-US" sz="1100" dirty="0">
                          <a:effectLst/>
                        </a:rPr>
                        <a:t>Revenue CAGR (10yr): 11%</a:t>
                      </a:r>
                      <a:endParaRPr lang="en-US" sz="11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7713" marR="17713" marT="8856" marB="8856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100" dirty="0" smtClean="0">
                          <a:effectLst/>
                        </a:rPr>
                        <a:t> </a:t>
                      </a:r>
                      <a:r>
                        <a:rPr lang="en-US" sz="1100" dirty="0">
                          <a:effectLst/>
                        </a:rPr>
                        <a:t>Health-conscious consumers:</a:t>
                      </a:r>
                    </a:p>
                    <a:p>
                      <a:pPr algn="just"/>
                      <a:r>
                        <a:rPr lang="en-US" sz="1100" dirty="0">
                          <a:effectLst/>
                        </a:rPr>
                        <a:t>- 78% of shoppers are willing to pay more for healthier snacks/beverages.</a:t>
                      </a:r>
                    </a:p>
                    <a:p>
                      <a:pPr algn="just"/>
                      <a:r>
                        <a:rPr lang="en-US" sz="1100" dirty="0">
                          <a:effectLst/>
                        </a:rPr>
                        <a:t>- 63% prefer natural products, while 55% opt for organic products</a:t>
                      </a:r>
                    </a:p>
                    <a:p>
                      <a:pPr algn="just"/>
                      <a:endParaRPr lang="en-US" sz="11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7713" marR="17713" marT="8856" marB="8856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100" dirty="0">
                          <a:effectLst/>
                        </a:rPr>
                        <a:t>1. Private label expansion:</a:t>
                      </a:r>
                    </a:p>
                    <a:p>
                      <a:pPr algn="just"/>
                      <a:r>
                        <a:rPr lang="en-US" sz="1100" dirty="0">
                          <a:effectLst/>
                        </a:rPr>
                        <a:t>- Private-label food products are 25-40% cheaper than branded items</a:t>
                      </a:r>
                      <a:r>
                        <a:rPr lang="en-US" sz="1100" dirty="0" smtClean="0">
                          <a:effectLst/>
                        </a:rPr>
                        <a:t>.</a:t>
                      </a:r>
                      <a:endParaRPr lang="en-US" sz="1100" dirty="0">
                        <a:effectLst/>
                      </a:endParaRPr>
                    </a:p>
                    <a:p>
                      <a:pPr algn="just"/>
                      <a:r>
                        <a:rPr lang="en-US" sz="1100" dirty="0">
                          <a:effectLst/>
                        </a:rPr>
                        <a:t>2. Local brands winning consumer trust:</a:t>
                      </a:r>
                    </a:p>
                    <a:p>
                      <a:pPr algn="just"/>
                      <a:r>
                        <a:rPr lang="en-US" sz="1100" dirty="0">
                          <a:effectLst/>
                        </a:rPr>
                        <a:t>- 45% of Indian consumers prefer local F&amp;B brands.</a:t>
                      </a:r>
                    </a:p>
                    <a:p>
                      <a:pPr algn="just"/>
                      <a:endParaRPr lang="en-US" sz="11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7713" marR="17713" marT="8856" marB="8856" anchor="ctr"/>
                </a:tc>
                <a:extLst>
                  <a:ext uri="{0D108BD9-81ED-4DB2-BD59-A6C34878D82A}">
                    <a16:rowId xmlns:a16="http://schemas.microsoft.com/office/drawing/2014/main" xmlns="" val="1244298389"/>
                  </a:ext>
                </a:extLst>
              </a:tr>
              <a:tr h="2200990">
                <a:tc>
                  <a:txBody>
                    <a:bodyPr/>
                    <a:lstStyle/>
                    <a:p>
                      <a:r>
                        <a:rPr lang="en-US" sz="1100" dirty="0">
                          <a:effectLst/>
                        </a:rPr>
                        <a:t>Healthcare</a:t>
                      </a:r>
                      <a:endParaRPr lang="en-US" sz="11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7713" marR="17713" marT="8856" marB="8856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100">
                          <a:effectLst/>
                        </a:rPr>
                        <a:t>Market Share: 19%</a:t>
                      </a:r>
                    </a:p>
                    <a:p>
                      <a:pPr algn="just"/>
                      <a:r>
                        <a:rPr lang="en-US" sz="1100">
                          <a:effectLst/>
                        </a:rPr>
                        <a:t>Revenue CAGR (10yr): 12%</a:t>
                      </a:r>
                      <a:endParaRPr lang="en-US" sz="1100" b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7713" marR="17713" marT="8856" marB="8856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100" dirty="0">
                          <a:effectLst/>
                        </a:rPr>
                        <a:t>1. Growing trust in Ayurveda &amp; Natural Health:</a:t>
                      </a:r>
                    </a:p>
                    <a:p>
                      <a:pPr algn="just"/>
                      <a:r>
                        <a:rPr lang="en-US" sz="1100" dirty="0">
                          <a:effectLst/>
                        </a:rPr>
                        <a:t>- 36% of Indians believe in Ayurvedic health benefits.</a:t>
                      </a:r>
                    </a:p>
                    <a:p>
                      <a:pPr algn="just"/>
                      <a:r>
                        <a:rPr lang="en-US" sz="1100" dirty="0" smtClean="0">
                          <a:effectLst/>
                        </a:rPr>
                        <a:t>2</a:t>
                      </a:r>
                      <a:r>
                        <a:rPr lang="en-US" sz="1100" dirty="0">
                          <a:effectLst/>
                        </a:rPr>
                        <a:t>. Rise of digital &amp; self-diagnosis health trends:</a:t>
                      </a:r>
                    </a:p>
                    <a:p>
                      <a:pPr algn="just"/>
                      <a:r>
                        <a:rPr lang="en-US" sz="1100" dirty="0">
                          <a:effectLst/>
                        </a:rPr>
                        <a:t>- 71% of households used nutraceuticals in the past year; 69% without a doctor’s recommendation</a:t>
                      </a:r>
                      <a:r>
                        <a:rPr lang="en-US" sz="1100" dirty="0" smtClean="0">
                          <a:effectLst/>
                        </a:rPr>
                        <a:t>.</a:t>
                      </a:r>
                      <a:endParaRPr lang="en-US" sz="11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7713" marR="17713" marT="8856" marB="8856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1100" dirty="0">
                          <a:effectLst/>
                        </a:rPr>
                        <a:t>1. AI &amp; </a:t>
                      </a:r>
                      <a:r>
                        <a:rPr lang="en-US" sz="1100" dirty="0" smtClean="0">
                          <a:effectLst/>
                        </a:rPr>
                        <a:t>personalized </a:t>
                      </a:r>
                      <a:r>
                        <a:rPr lang="en-US" sz="1100" dirty="0">
                          <a:effectLst/>
                        </a:rPr>
                        <a:t>healthcare growth:</a:t>
                      </a:r>
                    </a:p>
                    <a:p>
                      <a:pPr algn="just"/>
                      <a:r>
                        <a:rPr lang="en-US" sz="1100" dirty="0">
                          <a:effectLst/>
                        </a:rPr>
                        <a:t>- Direct-to-Customer (D2C) brands are offering at-home consultations for skincare, stress, and gut health.</a:t>
                      </a:r>
                    </a:p>
                    <a:p>
                      <a:pPr algn="just"/>
                      <a:r>
                        <a:rPr lang="en-US" sz="1100" dirty="0">
                          <a:effectLst/>
                        </a:rPr>
                        <a:t>- GenAI health coaches are providing </a:t>
                      </a:r>
                      <a:r>
                        <a:rPr lang="en-US" sz="1100" dirty="0" smtClean="0">
                          <a:effectLst/>
                        </a:rPr>
                        <a:t>personalized </a:t>
                      </a:r>
                      <a:r>
                        <a:rPr lang="en-US" sz="1100" dirty="0">
                          <a:effectLst/>
                        </a:rPr>
                        <a:t>recommendations, making digital healthcare more accessible.</a:t>
                      </a:r>
                    </a:p>
                    <a:p>
                      <a:pPr algn="just"/>
                      <a:r>
                        <a:rPr lang="en-US" sz="1100" dirty="0">
                          <a:effectLst/>
                        </a:rPr>
                        <a:t>2. Government push for transparency &amp; AYUSH growth:</a:t>
                      </a:r>
                    </a:p>
                    <a:p>
                      <a:pPr algn="just"/>
                      <a:r>
                        <a:rPr lang="en-US" sz="1100" dirty="0" smtClean="0">
                          <a:effectLst/>
                        </a:rPr>
                        <a:t>-The </a:t>
                      </a:r>
                      <a:r>
                        <a:rPr lang="en-US" sz="1100" dirty="0">
                          <a:effectLst/>
                        </a:rPr>
                        <a:t>government is also promoting traditional medicine, increasing the AYUSH budget by 23.7%, with 46% of rural and 53% of urban consumers embracing Ayurveda</a:t>
                      </a:r>
                      <a:endParaRPr lang="en-US" sz="1100" b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17713" marR="17713" marT="8856" marB="8856" anchor="ctr"/>
                </a:tc>
                <a:extLst>
                  <a:ext uri="{0D108BD9-81ED-4DB2-BD59-A6C34878D82A}">
                    <a16:rowId xmlns:a16="http://schemas.microsoft.com/office/drawing/2014/main" xmlns="" val="6371286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360385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 bwMode="gray">
          <a:xfrm>
            <a:off x="381000" y="4876800"/>
            <a:ext cx="2286000" cy="838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vert="horz" lIns="45720" tIns="45720" rIns="45720" bIns="45720" rtlCol="0" anchor="t" anchorCtr="0">
            <a:normAutofit/>
          </a:bodyPr>
          <a:lstStyle>
            <a:lvl1pPr algn="l" defTabSz="914400" rtl="0" eaLnBrk="1" latinLnBrk="0" hangingPunct="1">
              <a:lnSpc>
                <a:spcPts val="2200"/>
              </a:lnSpc>
              <a:spcBef>
                <a:spcPct val="0"/>
              </a:spcBef>
              <a:buNone/>
              <a:defRPr sz="2400" b="1" kern="1200">
                <a:solidFill>
                  <a:srgbClr val="1F497D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 smtClean="0"/>
              <a:t>Thank You !</a:t>
            </a:r>
            <a:endParaRPr lang="en-US" dirty="0"/>
          </a:p>
          <a:p>
            <a:endParaRPr lang="en-US" b="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76872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10740</TotalTime>
  <Words>1303</Words>
  <Application>Microsoft Office PowerPoint</Application>
  <PresentationFormat>A4 Paper (210x297 mm)</PresentationFormat>
  <Paragraphs>185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Slide 0</vt:lpstr>
      <vt:lpstr>FMCG Industry in India</vt:lpstr>
      <vt:lpstr>FMCG Industry in India (Cont’d)</vt:lpstr>
      <vt:lpstr>FMCG SWOT Analysis</vt:lpstr>
      <vt:lpstr>Competitive Benchmarking / Landscape – Financials / Valuation</vt:lpstr>
      <vt:lpstr>Sub-Sector Analysis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Dell</cp:lastModifiedBy>
  <cp:revision>874</cp:revision>
  <dcterms:created xsi:type="dcterms:W3CDTF">2012-03-13T16:05:56Z</dcterms:created>
  <dcterms:modified xsi:type="dcterms:W3CDTF">2026-01-19T17:34:53Z</dcterms:modified>
</cp:coreProperties>
</file>